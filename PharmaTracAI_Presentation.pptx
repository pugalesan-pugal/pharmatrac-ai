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judges, my name is Pugalesan, and today I am proud to present PharmaTrac AI — an autonomous, multi-agent pharmacovigilance and global recall control plane built on the UiPath Automation Cloud. PharmaTrac AI eliminates the manual, reactive safety loops in medicine distribution, replacing them with a secure, real-time safety control plane that bridges AI and human governance. Our system orchestrates six distinct case stages with eight specialized agents, all governed by Human-in-the-Loop decision gates.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year, pharmaceutical companies face critical contamination crises. The warnings don't arrive in clean tables — they are hidden in unstructured emails, doctor notes, or portal forms. Because traditional automation relies on strict, rules-based logic, it is blind to this unstructured mess. Human safety officers are forced to manually sort and cross-reference thousands of clinical complaints against supply chain records. By the time a pattern is detected, weeks or months have passed, costing lives and exposing enterprises to massive liabilities.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PharmaTrac AI solves this by coordinating a unified, state-driven case plan using UiPath Maestro Case. Rather than relying on isolated scripts, we modeled a BPMN 2.0 orchestration process divided into six orchestrated stages: Received, Enriching, Cluster Analysis, Human Action, Recall Decision, and Closed. Incoming narratives are validated against a strict schema, creating a live case record. After the Cluster Analysis stage detects a potential safety signal, the case enters the Human Action stage where a Safety Officer reviews all evidence through a custom UiPath App before the Recall Decision agent synthesizes the final recommendation. Maestro Case acts as our core governance plane, guiding the transaction data through specialized cognitive agents and human validation gates.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heart of the system is a collaborative network of eight specialized agents built with UiPath Agent Builder and powered by Gemini 2.5 Flash. First, the ComplaintIntelligenceAgent digests the unstructured narrative to identify the product, batch ID, symptom, and extraction confidence. Second, the BatchLookupAgent enriches this payload by querying ERP logs to pinpoint the manufacturing facility and distribution network. Third, the ClusterDetectionAgent conducts cross-document reasoning — if multiple independent events trace back to the same batch or factory, it flags a cluster warning and drafts a diagnostic safety report. The case then enters the Human Action stage, where the EscalationApp presents all evidence to a Safety Officer for HITL review. After sign-off, the RecallDecisionAgent evaluates the final recall recommendation, and the CaseClosureAgent compiles the closure report with Gmail alerts sent to distributors via the UiPath Google Gmail Connector.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pharmaceutical recalls carry massive weight, safety actions cannot be left entirely to AI models. PharmaTrac AI enforces a strict Human-in-the-Loop architecture through the dedicated Human Action stage — Stage 4 in our six-stage pipeline. If a cluster threat is flagged, Maestro Case pauses background processes and sends an urgent diagnostic task to a safety executive via a custom UiPath App called EscalationApp_Final. Inside this dashboard, the executive views the raw text, the extracted details, and the agent's reasoning. They can choose to Initiate a Recall, Escalate to the Lab for further investigation, or Dismiss the case. This decision then flows into Stage 5 — Recall Decision — where the RecallDecisionAgent synthesizes the final recommendation report before the case proceeds to closure.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event of an approved recall, the RecallDecisionAgent synthesizes the final recommendation, and the CaseClosureAgent compiles the complete case history into an auditable report. Background robots instantly run, freezing the toxic batch in the ERP, stopping distribution, and firing alerts to suppliers via the Google Gmail integration. Our six-stage pipeline with eight specialized agents demonstrates how enterprises can build, run, and govern agentic safety solutions at scale using UiPath Maestro Case Management and Human-in-the-Loop dashboards. Thank you for your time,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6035040" cy="6858000"/>
          </a:xfrm>
          <a:prstGeom prst="rect">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86600" y="-1600200"/>
            <a:ext cx="3200400" cy="3200400"/>
          </a:xfrm>
          <a:prstGeom prst="ellipse">
            <a:avLst/>
          </a:prstGeom>
          <a:no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06640" y="-1280160"/>
            <a:ext cx="2560320" cy="2560320"/>
          </a:xfrm>
          <a:prstGeom prst="ellipse">
            <a:avLst/>
          </a:prstGeom>
          <a:no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26679" y="-960120"/>
            <a:ext cx="1920240" cy="1920240"/>
          </a:xfrm>
          <a:prstGeom prst="ellipse">
            <a:avLst/>
          </a:prstGeom>
          <a:no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80160"/>
            <a:ext cx="5303520" cy="1097280"/>
          </a:xfrm>
          <a:prstGeom prst="rect">
            <a:avLst/>
          </a:prstGeom>
          <a:noFill/>
        </p:spPr>
        <p:txBody>
          <a:bodyPr wrap="square">
            <a:spAutoFit/>
          </a:bodyPr>
          <a:lstStyle/>
          <a:p>
            <a:pPr algn="l"/>
            <a:r>
              <a:rPr sz="5200" b="1" i="0">
                <a:solidFill>
                  <a:srgbClr val="FFFFFF"/>
                </a:solidFill>
                <a:latin typeface="Cambria"/>
              </a:rPr>
              <a:t>PharmaTrac AI</a:t>
            </a:r>
          </a:p>
        </p:txBody>
      </p:sp>
      <p:sp>
        <p:nvSpPr>
          <p:cNvPr id="8" name="TextBox 7"/>
          <p:cNvSpPr txBox="1"/>
          <p:nvPr/>
        </p:nvSpPr>
        <p:spPr>
          <a:xfrm>
            <a:off x="457200" y="2423160"/>
            <a:ext cx="5303520" cy="502920"/>
          </a:xfrm>
          <a:prstGeom prst="rect">
            <a:avLst/>
          </a:prstGeom>
          <a:noFill/>
        </p:spPr>
        <p:txBody>
          <a:bodyPr wrap="square">
            <a:spAutoFit/>
          </a:bodyPr>
          <a:lstStyle/>
          <a:p>
            <a:pPr algn="l"/>
            <a:r>
              <a:rPr sz="2000" b="0" i="0">
                <a:solidFill>
                  <a:srgbClr val="00B4D8"/>
                </a:solidFill>
                <a:latin typeface="Calibri"/>
              </a:rPr>
              <a:t>Autonomous Pharmacovigilance &amp;</a:t>
            </a:r>
          </a:p>
        </p:txBody>
      </p:sp>
      <p:sp>
        <p:nvSpPr>
          <p:cNvPr id="9" name="TextBox 8"/>
          <p:cNvSpPr txBox="1"/>
          <p:nvPr/>
        </p:nvSpPr>
        <p:spPr>
          <a:xfrm>
            <a:off x="457200" y="2880360"/>
            <a:ext cx="5303520" cy="502920"/>
          </a:xfrm>
          <a:prstGeom prst="rect">
            <a:avLst/>
          </a:prstGeom>
          <a:noFill/>
        </p:spPr>
        <p:txBody>
          <a:bodyPr wrap="square">
            <a:spAutoFit/>
          </a:bodyPr>
          <a:lstStyle/>
          <a:p>
            <a:pPr algn="l"/>
            <a:r>
              <a:rPr sz="2000" b="0" i="0">
                <a:solidFill>
                  <a:srgbClr val="00B4D8"/>
                </a:solidFill>
                <a:latin typeface="Calibri"/>
              </a:rPr>
              <a:t>Global Recall Control Plane</a:t>
            </a:r>
          </a:p>
        </p:txBody>
      </p:sp>
      <p:sp>
        <p:nvSpPr>
          <p:cNvPr id="10" name="Rectangle 9"/>
          <p:cNvSpPr/>
          <p:nvPr/>
        </p:nvSpPr>
        <p:spPr>
          <a:xfrm>
            <a:off x="457200" y="3429000"/>
            <a:ext cx="41148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566160"/>
            <a:ext cx="5029200" cy="1097280"/>
          </a:xfrm>
          <a:prstGeom prst="rect">
            <a:avLst/>
          </a:prstGeom>
          <a:noFill/>
        </p:spPr>
        <p:txBody>
          <a:bodyPr wrap="square">
            <a:spAutoFit/>
          </a:bodyPr>
          <a:lstStyle/>
          <a:p>
            <a:pPr algn="l">
              <a:spcAft>
                <a:spcPts val="600"/>
              </a:spcAft>
            </a:pPr>
            <a:r>
              <a:rPr sz="1300" b="0">
                <a:solidFill>
                  <a:srgbClr val="E8F4F8"/>
                </a:solidFill>
                <a:latin typeface="Calibri"/>
              </a:rPr>
              <a:t>Track 1: UiPath Maestro Case</a:t>
            </a:r>
          </a:p>
          <a:p>
            <a:pPr algn="l">
              <a:spcAft>
                <a:spcPts val="600"/>
              </a:spcAft>
            </a:pPr>
            <a:r>
              <a:rPr sz="1300" b="0">
                <a:solidFill>
                  <a:srgbClr val="E8F4F8"/>
                </a:solidFill>
                <a:latin typeface="Calibri"/>
              </a:rPr>
              <a:t>UiPath AgentHack 2026 Submission</a:t>
            </a:r>
          </a:p>
          <a:p>
            <a:pPr algn="l">
              <a:spcAft>
                <a:spcPts val="600"/>
              </a:spcAft>
            </a:pPr>
            <a:r>
              <a:rPr sz="1300" b="0">
                <a:solidFill>
                  <a:srgbClr val="B0C4D8"/>
                </a:solidFill>
                <a:latin typeface="Calibri"/>
              </a:rPr>
              <a:t>Presenter: Pugalesan I</a:t>
            </a:r>
          </a:p>
        </p:txBody>
      </p:sp>
      <p:sp>
        <p:nvSpPr>
          <p:cNvPr id="12" name="Rounded Rectangle 11"/>
          <p:cNvSpPr/>
          <p:nvPr/>
        </p:nvSpPr>
        <p:spPr>
          <a:xfrm>
            <a:off x="6492240" y="1097280"/>
            <a:ext cx="5212080" cy="114300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207007"/>
            <a:ext cx="3200400" cy="320040"/>
          </a:xfrm>
          <a:prstGeom prst="rect">
            <a:avLst/>
          </a:prstGeom>
          <a:noFill/>
        </p:spPr>
        <p:txBody>
          <a:bodyPr wrap="square">
            <a:spAutoFit/>
          </a:bodyPr>
          <a:lstStyle/>
          <a:p>
            <a:pPr algn="l"/>
            <a:r>
              <a:rPr sz="900" b="1" i="0">
                <a:solidFill>
                  <a:srgbClr val="B0C4D8"/>
                </a:solidFill>
                <a:latin typeface="Calibri"/>
              </a:rPr>
              <a:t>TIME-TO-DETECT</a:t>
            </a:r>
          </a:p>
        </p:txBody>
      </p:sp>
      <p:sp>
        <p:nvSpPr>
          <p:cNvPr id="14" name="TextBox 13"/>
          <p:cNvSpPr txBox="1"/>
          <p:nvPr/>
        </p:nvSpPr>
        <p:spPr>
          <a:xfrm>
            <a:off x="6720840" y="1536192"/>
            <a:ext cx="4663440" cy="502920"/>
          </a:xfrm>
          <a:prstGeom prst="rect">
            <a:avLst/>
          </a:prstGeom>
          <a:noFill/>
        </p:spPr>
        <p:txBody>
          <a:bodyPr wrap="square">
            <a:spAutoFit/>
          </a:bodyPr>
          <a:lstStyle/>
          <a:p>
            <a:pPr algn="l"/>
            <a:r>
              <a:rPr sz="1600" b="1" i="0">
                <a:solidFill>
                  <a:srgbClr val="06D6A0"/>
                </a:solidFill>
                <a:latin typeface="Calibri"/>
              </a:rPr>
              <a:t>Weeks → Seconds</a:t>
            </a:r>
          </a:p>
        </p:txBody>
      </p:sp>
      <p:sp>
        <p:nvSpPr>
          <p:cNvPr id="15" name="Rounded Rectangle 14"/>
          <p:cNvSpPr/>
          <p:nvPr/>
        </p:nvSpPr>
        <p:spPr>
          <a:xfrm>
            <a:off x="6492240" y="2468880"/>
            <a:ext cx="5212080" cy="114300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2578608"/>
            <a:ext cx="3200400" cy="320040"/>
          </a:xfrm>
          <a:prstGeom prst="rect">
            <a:avLst/>
          </a:prstGeom>
          <a:noFill/>
        </p:spPr>
        <p:txBody>
          <a:bodyPr wrap="square">
            <a:spAutoFit/>
          </a:bodyPr>
          <a:lstStyle/>
          <a:p>
            <a:pPr algn="l"/>
            <a:r>
              <a:rPr sz="900" b="1" i="0">
                <a:solidFill>
                  <a:srgbClr val="B0C4D8"/>
                </a:solidFill>
                <a:latin typeface="Calibri"/>
              </a:rPr>
              <a:t>CASE STAGES</a:t>
            </a:r>
          </a:p>
        </p:txBody>
      </p:sp>
      <p:sp>
        <p:nvSpPr>
          <p:cNvPr id="17" name="TextBox 16"/>
          <p:cNvSpPr txBox="1"/>
          <p:nvPr/>
        </p:nvSpPr>
        <p:spPr>
          <a:xfrm>
            <a:off x="6720840" y="2907792"/>
            <a:ext cx="4663440" cy="502920"/>
          </a:xfrm>
          <a:prstGeom prst="rect">
            <a:avLst/>
          </a:prstGeom>
          <a:noFill/>
        </p:spPr>
        <p:txBody>
          <a:bodyPr wrap="square">
            <a:spAutoFit/>
          </a:bodyPr>
          <a:lstStyle/>
          <a:p>
            <a:pPr algn="l"/>
            <a:r>
              <a:rPr sz="1600" b="1" i="0">
                <a:solidFill>
                  <a:srgbClr val="00B4D8"/>
                </a:solidFill>
                <a:latin typeface="Calibri"/>
              </a:rPr>
              <a:t>6 Orchestrated Phases</a:t>
            </a:r>
          </a:p>
        </p:txBody>
      </p:sp>
      <p:sp>
        <p:nvSpPr>
          <p:cNvPr id="18" name="Rounded Rectangle 17"/>
          <p:cNvSpPr/>
          <p:nvPr/>
        </p:nvSpPr>
        <p:spPr>
          <a:xfrm>
            <a:off x="6492240" y="3840480"/>
            <a:ext cx="5212080" cy="114300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3950208"/>
            <a:ext cx="3200400" cy="320040"/>
          </a:xfrm>
          <a:prstGeom prst="rect">
            <a:avLst/>
          </a:prstGeom>
          <a:noFill/>
        </p:spPr>
        <p:txBody>
          <a:bodyPr wrap="square">
            <a:spAutoFit/>
          </a:bodyPr>
          <a:lstStyle/>
          <a:p>
            <a:pPr algn="l"/>
            <a:r>
              <a:rPr sz="900" b="1" i="0">
                <a:solidFill>
                  <a:srgbClr val="B0C4D8"/>
                </a:solidFill>
                <a:latin typeface="Calibri"/>
              </a:rPr>
              <a:t>AI AGENTS</a:t>
            </a:r>
          </a:p>
        </p:txBody>
      </p:sp>
      <p:sp>
        <p:nvSpPr>
          <p:cNvPr id="20" name="TextBox 19"/>
          <p:cNvSpPr txBox="1"/>
          <p:nvPr/>
        </p:nvSpPr>
        <p:spPr>
          <a:xfrm>
            <a:off x="6720840" y="4279392"/>
            <a:ext cx="4663440" cy="502920"/>
          </a:xfrm>
          <a:prstGeom prst="rect">
            <a:avLst/>
          </a:prstGeom>
          <a:noFill/>
        </p:spPr>
        <p:txBody>
          <a:bodyPr wrap="square">
            <a:spAutoFit/>
          </a:bodyPr>
          <a:lstStyle/>
          <a:p>
            <a:pPr algn="l"/>
            <a:r>
              <a:rPr sz="1600" b="1" i="0">
                <a:solidFill>
                  <a:srgbClr val="FFB703"/>
                </a:solidFill>
                <a:latin typeface="Calibri"/>
              </a:rPr>
              <a:t>8 Specialized Agents</a:t>
            </a:r>
          </a:p>
        </p:txBody>
      </p:sp>
      <p:sp>
        <p:nvSpPr>
          <p:cNvPr id="21" name="Rounded Rectangle 20"/>
          <p:cNvSpPr/>
          <p:nvPr/>
        </p:nvSpPr>
        <p:spPr>
          <a:xfrm>
            <a:off x="6492240" y="5212080"/>
            <a:ext cx="5212080" cy="114300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5321808"/>
            <a:ext cx="3200400" cy="320040"/>
          </a:xfrm>
          <a:prstGeom prst="rect">
            <a:avLst/>
          </a:prstGeom>
          <a:noFill/>
        </p:spPr>
        <p:txBody>
          <a:bodyPr wrap="square">
            <a:spAutoFit/>
          </a:bodyPr>
          <a:lstStyle/>
          <a:p>
            <a:pPr algn="l"/>
            <a:r>
              <a:rPr sz="900" b="1" i="0">
                <a:solidFill>
                  <a:srgbClr val="B0C4D8"/>
                </a:solidFill>
                <a:latin typeface="Calibri"/>
              </a:rPr>
              <a:t>FAILSAFE</a:t>
            </a:r>
          </a:p>
        </p:txBody>
      </p:sp>
      <p:sp>
        <p:nvSpPr>
          <p:cNvPr id="23" name="TextBox 22"/>
          <p:cNvSpPr txBox="1"/>
          <p:nvPr/>
        </p:nvSpPr>
        <p:spPr>
          <a:xfrm>
            <a:off x="6720840" y="5650992"/>
            <a:ext cx="4663440" cy="502920"/>
          </a:xfrm>
          <a:prstGeom prst="rect">
            <a:avLst/>
          </a:prstGeom>
          <a:noFill/>
        </p:spPr>
        <p:txBody>
          <a:bodyPr wrap="square">
            <a:spAutoFit/>
          </a:bodyPr>
          <a:lstStyle/>
          <a:p>
            <a:pPr algn="l"/>
            <a:r>
              <a:rPr sz="1600" b="1" i="0">
                <a:solidFill>
                  <a:srgbClr val="EF475A"/>
                </a:solidFill>
                <a:latin typeface="Calibri"/>
              </a:rPr>
              <a:t>HITL Governance Built-in</a:t>
            </a:r>
          </a:p>
        </p:txBody>
      </p:sp>
      <p:sp>
        <p:nvSpPr>
          <p:cNvPr id="24" name="TextBox 23"/>
          <p:cNvSpPr txBox="1"/>
          <p:nvPr/>
        </p:nvSpPr>
        <p:spPr>
          <a:xfrm>
            <a:off x="457200" y="6309360"/>
            <a:ext cx="10972800" cy="411480"/>
          </a:xfrm>
          <a:prstGeom prst="rect">
            <a:avLst/>
          </a:prstGeom>
          <a:noFill/>
        </p:spPr>
        <p:txBody>
          <a:bodyPr wrap="square">
            <a:spAutoFit/>
          </a:bodyPr>
          <a:lstStyle/>
          <a:p>
            <a:pPr algn="ctr"/>
            <a:r>
              <a:rPr sz="1000" b="0" i="0">
                <a:solidFill>
                  <a:srgbClr val="B0C4D8"/>
                </a:solidFill>
                <a:latin typeface="Calibri"/>
              </a:rPr>
              <a:t>Built on UiPath Automation Cloud  ·  Powered by Gemini 2.5 Flash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200" b="1" i="0">
                <a:solidFill>
                  <a:srgbClr val="FFFFFF"/>
                </a:solidFill>
                <a:latin typeface="Cambria"/>
              </a:rPr>
              <a:t>THE PHARMACOVIGILANCE BOTTLENECK</a:t>
            </a:r>
          </a:p>
        </p:txBody>
      </p:sp>
      <p:sp>
        <p:nvSpPr>
          <p:cNvPr id="4" name="Rectangle 3"/>
          <p:cNvSpPr/>
          <p:nvPr/>
        </p:nvSpPr>
        <p:spPr>
          <a:xfrm>
            <a:off x="457200" y="804672"/>
            <a:ext cx="36576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0"/>
            <a:ext cx="3657600" cy="365760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640080" cy="640080"/>
          </a:xfrm>
          <a:prstGeom prst="rect">
            <a:avLst/>
          </a:prstGeom>
          <a:noFill/>
        </p:spPr>
        <p:txBody>
          <a:bodyPr wrap="square">
            <a:spAutoFit/>
          </a:bodyPr>
          <a:lstStyle/>
          <a:p>
            <a:pPr algn="l"/>
            <a:r>
              <a:rPr sz="3000" b="0" i="0">
                <a:solidFill>
                  <a:srgbClr val="FFFFFF"/>
                </a:solidFill>
                <a:latin typeface="Calibri"/>
              </a:rPr>
              <a:t>📩</a:t>
            </a:r>
          </a:p>
        </p:txBody>
      </p:sp>
      <p:sp>
        <p:nvSpPr>
          <p:cNvPr id="7" name="TextBox 6"/>
          <p:cNvSpPr txBox="1"/>
          <p:nvPr/>
        </p:nvSpPr>
        <p:spPr>
          <a:xfrm>
            <a:off x="548640" y="1920240"/>
            <a:ext cx="3291840" cy="502920"/>
          </a:xfrm>
          <a:prstGeom prst="rect">
            <a:avLst/>
          </a:prstGeom>
          <a:noFill/>
        </p:spPr>
        <p:txBody>
          <a:bodyPr wrap="square">
            <a:spAutoFit/>
          </a:bodyPr>
          <a:lstStyle/>
          <a:p>
            <a:pPr algn="l"/>
            <a:r>
              <a:rPr sz="1600" b="1" i="0">
                <a:solidFill>
                  <a:srgbClr val="FFB703"/>
                </a:solidFill>
                <a:latin typeface="Calibri"/>
              </a:rPr>
              <a:t>Unstructured Ingestion</a:t>
            </a:r>
          </a:p>
        </p:txBody>
      </p:sp>
      <p:sp>
        <p:nvSpPr>
          <p:cNvPr id="8" name="Rectangle 7"/>
          <p:cNvSpPr/>
          <p:nvPr/>
        </p:nvSpPr>
        <p:spPr>
          <a:xfrm>
            <a:off x="548640" y="2468880"/>
            <a:ext cx="3108960" cy="12700"/>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606040"/>
            <a:ext cx="3291840" cy="1828800"/>
          </a:xfrm>
          <a:prstGeom prst="rect">
            <a:avLst/>
          </a:prstGeom>
          <a:noFill/>
        </p:spPr>
        <p:txBody>
          <a:bodyPr wrap="square">
            <a:spAutoFit/>
          </a:bodyPr>
          <a:lstStyle/>
          <a:p>
            <a:pPr algn="l"/>
            <a:r>
              <a:rPr sz="1300" b="0" i="0">
                <a:solidFill>
                  <a:srgbClr val="E8F4F8"/>
                </a:solidFill>
                <a:latin typeface="Calibri"/>
              </a:rPr>
              <a:t>Warning signals are buried in messy emails, portal inputs, or handwritten notes — invisible to rule-based automation.</a:t>
            </a:r>
          </a:p>
        </p:txBody>
      </p:sp>
      <p:sp>
        <p:nvSpPr>
          <p:cNvPr id="10" name="Rounded Rectangle 9"/>
          <p:cNvSpPr/>
          <p:nvPr/>
        </p:nvSpPr>
        <p:spPr>
          <a:xfrm>
            <a:off x="4297680" y="1097280"/>
            <a:ext cx="3657600" cy="365760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234440"/>
            <a:ext cx="640080" cy="640080"/>
          </a:xfrm>
          <a:prstGeom prst="rect">
            <a:avLst/>
          </a:prstGeom>
          <a:noFill/>
        </p:spPr>
        <p:txBody>
          <a:bodyPr wrap="square">
            <a:spAutoFit/>
          </a:bodyPr>
          <a:lstStyle/>
          <a:p>
            <a:pPr algn="l"/>
            <a:r>
              <a:rPr sz="3000" b="0" i="0">
                <a:solidFill>
                  <a:srgbClr val="FFFFFF"/>
                </a:solidFill>
                <a:latin typeface="Calibri"/>
              </a:rPr>
              <a:t>🗃️</a:t>
            </a:r>
          </a:p>
        </p:txBody>
      </p:sp>
      <p:sp>
        <p:nvSpPr>
          <p:cNvPr id="12" name="TextBox 11"/>
          <p:cNvSpPr txBox="1"/>
          <p:nvPr/>
        </p:nvSpPr>
        <p:spPr>
          <a:xfrm>
            <a:off x="4480560" y="1920240"/>
            <a:ext cx="3291840" cy="502920"/>
          </a:xfrm>
          <a:prstGeom prst="rect">
            <a:avLst/>
          </a:prstGeom>
          <a:noFill/>
        </p:spPr>
        <p:txBody>
          <a:bodyPr wrap="square">
            <a:spAutoFit/>
          </a:bodyPr>
          <a:lstStyle/>
          <a:p>
            <a:pPr algn="l"/>
            <a:r>
              <a:rPr sz="1600" b="1" i="0">
                <a:solidFill>
                  <a:srgbClr val="EF475A"/>
                </a:solidFill>
                <a:latin typeface="Calibri"/>
              </a:rPr>
              <a:t>Fragmented Data Silos</a:t>
            </a:r>
          </a:p>
        </p:txBody>
      </p:sp>
      <p:sp>
        <p:nvSpPr>
          <p:cNvPr id="13" name="Rectangle 12"/>
          <p:cNvSpPr/>
          <p:nvPr/>
        </p:nvSpPr>
        <p:spPr>
          <a:xfrm>
            <a:off x="4480560" y="2468880"/>
            <a:ext cx="3108960" cy="12700"/>
          </a:xfrm>
          <a:prstGeom prst="rect">
            <a:avLst/>
          </a:prstGeom>
          <a:solidFill>
            <a:srgbClr val="EF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2606040"/>
            <a:ext cx="3291840" cy="1828800"/>
          </a:xfrm>
          <a:prstGeom prst="rect">
            <a:avLst/>
          </a:prstGeom>
          <a:noFill/>
        </p:spPr>
        <p:txBody>
          <a:bodyPr wrap="square">
            <a:spAutoFit/>
          </a:bodyPr>
          <a:lstStyle/>
          <a:p>
            <a:pPr algn="l"/>
            <a:r>
              <a:rPr sz="1300" b="0" i="0">
                <a:solidFill>
                  <a:srgbClr val="E8F4F8"/>
                </a:solidFill>
                <a:latin typeface="Calibri"/>
              </a:rPr>
              <a:t>Cross-referencing clinical reports against massive supply chain and ERP databases is entirely manual and error-prone.</a:t>
            </a:r>
          </a:p>
        </p:txBody>
      </p:sp>
      <p:sp>
        <p:nvSpPr>
          <p:cNvPr id="15" name="Rounded Rectangle 14"/>
          <p:cNvSpPr/>
          <p:nvPr/>
        </p:nvSpPr>
        <p:spPr>
          <a:xfrm>
            <a:off x="8229600" y="1097280"/>
            <a:ext cx="3657600" cy="365760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234440"/>
            <a:ext cx="640080" cy="640080"/>
          </a:xfrm>
          <a:prstGeom prst="rect">
            <a:avLst/>
          </a:prstGeom>
          <a:noFill/>
        </p:spPr>
        <p:txBody>
          <a:bodyPr wrap="square">
            <a:spAutoFit/>
          </a:bodyPr>
          <a:lstStyle/>
          <a:p>
            <a:pPr algn="l"/>
            <a:r>
              <a:rPr sz="3000" b="0" i="0">
                <a:solidFill>
                  <a:srgbClr val="FFFFFF"/>
                </a:solidFill>
                <a:latin typeface="Calibri"/>
              </a:rPr>
              <a:t>⌛</a:t>
            </a:r>
          </a:p>
        </p:txBody>
      </p:sp>
      <p:sp>
        <p:nvSpPr>
          <p:cNvPr id="17" name="TextBox 16"/>
          <p:cNvSpPr txBox="1"/>
          <p:nvPr/>
        </p:nvSpPr>
        <p:spPr>
          <a:xfrm>
            <a:off x="8412480" y="1920240"/>
            <a:ext cx="3291840" cy="502920"/>
          </a:xfrm>
          <a:prstGeom prst="rect">
            <a:avLst/>
          </a:prstGeom>
          <a:noFill/>
        </p:spPr>
        <p:txBody>
          <a:bodyPr wrap="square">
            <a:spAutoFit/>
          </a:bodyPr>
          <a:lstStyle/>
          <a:p>
            <a:pPr algn="l"/>
            <a:r>
              <a:rPr sz="1600" b="1" i="0">
                <a:solidFill>
                  <a:srgbClr val="EF475A"/>
                </a:solidFill>
                <a:latin typeface="Calibri"/>
              </a:rPr>
              <a:t>The Cost of Delay</a:t>
            </a:r>
          </a:p>
        </p:txBody>
      </p:sp>
      <p:sp>
        <p:nvSpPr>
          <p:cNvPr id="18" name="Rectangle 17"/>
          <p:cNvSpPr/>
          <p:nvPr/>
        </p:nvSpPr>
        <p:spPr>
          <a:xfrm>
            <a:off x="8412480" y="2468880"/>
            <a:ext cx="3108960" cy="12700"/>
          </a:xfrm>
          <a:prstGeom prst="rect">
            <a:avLst/>
          </a:prstGeom>
          <a:solidFill>
            <a:srgbClr val="EF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606040"/>
            <a:ext cx="3291840" cy="1828800"/>
          </a:xfrm>
          <a:prstGeom prst="rect">
            <a:avLst/>
          </a:prstGeom>
          <a:noFill/>
        </p:spPr>
        <p:txBody>
          <a:bodyPr wrap="square">
            <a:spAutoFit/>
          </a:bodyPr>
          <a:lstStyle/>
          <a:p>
            <a:pPr algn="l"/>
            <a:r>
              <a:rPr sz="1300" b="0" i="0">
                <a:solidFill>
                  <a:srgbClr val="E8F4F8"/>
                </a:solidFill>
                <a:latin typeface="Calibri"/>
              </a:rPr>
              <a:t>Recognizing a safety cluster takes weeks or months — costing patient lives, regulatory penalties, and brand crises.</a:t>
            </a:r>
          </a:p>
        </p:txBody>
      </p:sp>
      <p:sp>
        <p:nvSpPr>
          <p:cNvPr id="20" name="Rounded Rectangle 19"/>
          <p:cNvSpPr/>
          <p:nvPr/>
        </p:nvSpPr>
        <p:spPr>
          <a:xfrm>
            <a:off x="365760" y="4983480"/>
            <a:ext cx="11430000" cy="1417320"/>
          </a:xfrm>
          <a:prstGeom prst="roundRect">
            <a:avLst>
              <a:gd name="adj" fmla="val 5000"/>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20640"/>
            <a:ext cx="3200400" cy="411480"/>
          </a:xfrm>
          <a:prstGeom prst="rect">
            <a:avLst/>
          </a:prstGeom>
          <a:noFill/>
        </p:spPr>
        <p:txBody>
          <a:bodyPr wrap="square">
            <a:spAutoFit/>
          </a:bodyPr>
          <a:lstStyle/>
          <a:p>
            <a:pPr algn="l"/>
            <a:r>
              <a:rPr sz="1400" b="1" i="0">
                <a:solidFill>
                  <a:srgbClr val="EF475A"/>
                </a:solidFill>
                <a:latin typeface="Calibri"/>
              </a:rPr>
              <a:t>💥  Today's Reality:</a:t>
            </a:r>
          </a:p>
        </p:txBody>
      </p:sp>
      <p:sp>
        <p:nvSpPr>
          <p:cNvPr id="22" name="TextBox 21"/>
          <p:cNvSpPr txBox="1"/>
          <p:nvPr/>
        </p:nvSpPr>
        <p:spPr>
          <a:xfrm>
            <a:off x="731520" y="5532120"/>
            <a:ext cx="10515600" cy="640080"/>
          </a:xfrm>
          <a:prstGeom prst="rect">
            <a:avLst/>
          </a:prstGeom>
          <a:noFill/>
        </p:spPr>
        <p:txBody>
          <a:bodyPr wrap="square">
            <a:spAutoFit/>
          </a:bodyPr>
          <a:lstStyle/>
          <a:p>
            <a:pPr algn="l"/>
            <a:r>
              <a:rPr sz="1300" b="0" i="0">
                <a:solidFill>
                  <a:srgbClr val="E8F4F8"/>
                </a:solidFill>
                <a:latin typeface="Calibri"/>
              </a:rPr>
              <a:t>By the time a pattern is detected, weeks have passed — lives are at risk and billions in liabilities accumulate.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200" b="1" i="0">
                <a:solidFill>
                  <a:srgbClr val="FFFFFF"/>
                </a:solidFill>
                <a:latin typeface="Cambria"/>
              </a:rPr>
              <a:t>ORCHESTRATED BY UIPATH MAESTRO CASE</a:t>
            </a:r>
          </a:p>
        </p:txBody>
      </p:sp>
      <p:sp>
        <p:nvSpPr>
          <p:cNvPr id="4" name="Rectangle 3"/>
          <p:cNvSpPr/>
          <p:nvPr/>
        </p:nvSpPr>
        <p:spPr>
          <a:xfrm>
            <a:off x="457200" y="804672"/>
            <a:ext cx="41148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0"/>
            <a:ext cx="1664208" cy="32918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23544" y="1188720"/>
            <a:ext cx="457200" cy="4572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1188720"/>
            <a:ext cx="457200" cy="457200"/>
          </a:xfrm>
          <a:prstGeom prst="rect">
            <a:avLst/>
          </a:prstGeom>
          <a:noFill/>
        </p:spPr>
        <p:txBody>
          <a:bodyPr wrap="square">
            <a:spAutoFit/>
          </a:bodyPr>
          <a:lstStyle/>
          <a:p>
            <a:pPr algn="ctr"/>
            <a:r>
              <a:rPr sz="1400" b="1" i="0">
                <a:solidFill>
                  <a:srgbClr val="FFFFFF"/>
                </a:solidFill>
                <a:latin typeface="Calibri"/>
              </a:rPr>
              <a:t>1</a:t>
            </a:r>
          </a:p>
        </p:txBody>
      </p:sp>
      <p:sp>
        <p:nvSpPr>
          <p:cNvPr id="8" name="TextBox 7"/>
          <p:cNvSpPr txBox="1"/>
          <p:nvPr/>
        </p:nvSpPr>
        <p:spPr>
          <a:xfrm>
            <a:off x="393192" y="1719072"/>
            <a:ext cx="1517904" cy="594360"/>
          </a:xfrm>
          <a:prstGeom prst="rect">
            <a:avLst/>
          </a:prstGeom>
          <a:noFill/>
        </p:spPr>
        <p:txBody>
          <a:bodyPr wrap="square">
            <a:spAutoFit/>
          </a:bodyPr>
          <a:lstStyle/>
          <a:p>
            <a:pPr algn="ctr"/>
            <a:r>
              <a:rPr sz="1200" b="1" i="0">
                <a:solidFill>
                  <a:srgbClr val="00B4D8"/>
                </a:solidFill>
                <a:latin typeface="Calibri"/>
              </a:rPr>
              <a:t>RECEIVED</a:t>
            </a:r>
          </a:p>
        </p:txBody>
      </p:sp>
      <p:sp>
        <p:nvSpPr>
          <p:cNvPr id="9" name="Rectangle 8"/>
          <p:cNvSpPr/>
          <p:nvPr/>
        </p:nvSpPr>
        <p:spPr>
          <a:xfrm>
            <a:off x="457200" y="2377440"/>
            <a:ext cx="1389888" cy="127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2514600"/>
            <a:ext cx="1481328" cy="365760"/>
          </a:xfrm>
          <a:prstGeom prst="rect">
            <a:avLst/>
          </a:prstGeom>
          <a:noFill/>
        </p:spPr>
        <p:txBody>
          <a:bodyPr wrap="square">
            <a:spAutoFit/>
          </a:bodyPr>
          <a:lstStyle/>
          <a:p>
            <a:pPr algn="l"/>
            <a:r>
              <a:rPr sz="1000" b="0" i="0">
                <a:solidFill>
                  <a:srgbClr val="E8F4F8"/>
                </a:solidFill>
                <a:latin typeface="Calibri"/>
              </a:rPr>
              <a:t>› RPA Ingestion</a:t>
            </a:r>
          </a:p>
        </p:txBody>
      </p:sp>
      <p:sp>
        <p:nvSpPr>
          <p:cNvPr id="11" name="TextBox 10"/>
          <p:cNvSpPr txBox="1"/>
          <p:nvPr/>
        </p:nvSpPr>
        <p:spPr>
          <a:xfrm>
            <a:off x="429768" y="2898648"/>
            <a:ext cx="1481328" cy="365760"/>
          </a:xfrm>
          <a:prstGeom prst="rect">
            <a:avLst/>
          </a:prstGeom>
          <a:noFill/>
        </p:spPr>
        <p:txBody>
          <a:bodyPr wrap="square">
            <a:spAutoFit/>
          </a:bodyPr>
          <a:lstStyle/>
          <a:p>
            <a:pPr algn="l"/>
            <a:r>
              <a:rPr sz="1000" b="0" i="0">
                <a:solidFill>
                  <a:srgbClr val="E8F4F8"/>
                </a:solidFill>
                <a:latin typeface="Calibri"/>
              </a:rPr>
              <a:t>› Schema Validation</a:t>
            </a:r>
          </a:p>
        </p:txBody>
      </p:sp>
      <p:sp>
        <p:nvSpPr>
          <p:cNvPr id="12" name="TextBox 11"/>
          <p:cNvSpPr txBox="1"/>
          <p:nvPr/>
        </p:nvSpPr>
        <p:spPr>
          <a:xfrm>
            <a:off x="429768" y="3282696"/>
            <a:ext cx="1481328" cy="365760"/>
          </a:xfrm>
          <a:prstGeom prst="rect">
            <a:avLst/>
          </a:prstGeom>
          <a:noFill/>
        </p:spPr>
        <p:txBody>
          <a:bodyPr wrap="square">
            <a:spAutoFit/>
          </a:bodyPr>
          <a:lstStyle/>
          <a:p>
            <a:pPr algn="l"/>
            <a:r>
              <a:rPr sz="1000" b="0" i="0">
                <a:solidFill>
                  <a:srgbClr val="E8F4F8"/>
                </a:solidFill>
                <a:latin typeface="Calibri"/>
              </a:rPr>
              <a:t>› Duplicate Check</a:t>
            </a:r>
          </a:p>
        </p:txBody>
      </p:sp>
      <p:sp>
        <p:nvSpPr>
          <p:cNvPr id="13" name="TextBox 12"/>
          <p:cNvSpPr txBox="1"/>
          <p:nvPr/>
        </p:nvSpPr>
        <p:spPr>
          <a:xfrm>
            <a:off x="2002536" y="2468880"/>
            <a:ext cx="137160" cy="365760"/>
          </a:xfrm>
          <a:prstGeom prst="rect">
            <a:avLst/>
          </a:prstGeom>
          <a:noFill/>
        </p:spPr>
        <p:txBody>
          <a:bodyPr wrap="square">
            <a:spAutoFit/>
          </a:bodyPr>
          <a:lstStyle/>
          <a:p>
            <a:pPr algn="ctr"/>
            <a:r>
              <a:rPr sz="1600" b="1" i="0">
                <a:solidFill>
                  <a:srgbClr val="00B4D8"/>
                </a:solidFill>
                <a:latin typeface="Calibri"/>
              </a:rPr>
              <a:t>→</a:t>
            </a:r>
          </a:p>
        </p:txBody>
      </p:sp>
      <p:sp>
        <p:nvSpPr>
          <p:cNvPr id="14" name="Rounded Rectangle 13"/>
          <p:cNvSpPr/>
          <p:nvPr/>
        </p:nvSpPr>
        <p:spPr>
          <a:xfrm>
            <a:off x="2121408" y="1097280"/>
            <a:ext cx="1664208" cy="32918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724912" y="1188720"/>
            <a:ext cx="457200" cy="457200"/>
          </a:xfrm>
          <a:prstGeom prst="ellipse">
            <a:avLst/>
          </a:prstGeom>
          <a:solidFill>
            <a:srgbClr val="56C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24912" y="1188720"/>
            <a:ext cx="457200" cy="457200"/>
          </a:xfrm>
          <a:prstGeom prst="rect">
            <a:avLst/>
          </a:prstGeom>
          <a:noFill/>
        </p:spPr>
        <p:txBody>
          <a:bodyPr wrap="square">
            <a:spAutoFit/>
          </a:bodyPr>
          <a:lstStyle/>
          <a:p>
            <a:pPr algn="ctr"/>
            <a:r>
              <a:rPr sz="1400" b="1" i="0">
                <a:solidFill>
                  <a:srgbClr val="FFFFFF"/>
                </a:solidFill>
                <a:latin typeface="Calibri"/>
              </a:rPr>
              <a:t>2</a:t>
            </a:r>
          </a:p>
        </p:txBody>
      </p:sp>
      <p:sp>
        <p:nvSpPr>
          <p:cNvPr id="17" name="TextBox 16"/>
          <p:cNvSpPr txBox="1"/>
          <p:nvPr/>
        </p:nvSpPr>
        <p:spPr>
          <a:xfrm>
            <a:off x="2194560" y="1719072"/>
            <a:ext cx="1517904" cy="594360"/>
          </a:xfrm>
          <a:prstGeom prst="rect">
            <a:avLst/>
          </a:prstGeom>
          <a:noFill/>
        </p:spPr>
        <p:txBody>
          <a:bodyPr wrap="square">
            <a:spAutoFit/>
          </a:bodyPr>
          <a:lstStyle/>
          <a:p>
            <a:pPr algn="ctr"/>
            <a:r>
              <a:rPr sz="1200" b="1" i="0">
                <a:solidFill>
                  <a:srgbClr val="56CFE1"/>
                </a:solidFill>
                <a:latin typeface="Calibri"/>
              </a:rPr>
              <a:t>ENRICHING</a:t>
            </a:r>
          </a:p>
        </p:txBody>
      </p:sp>
      <p:sp>
        <p:nvSpPr>
          <p:cNvPr id="18" name="Rectangle 17"/>
          <p:cNvSpPr/>
          <p:nvPr/>
        </p:nvSpPr>
        <p:spPr>
          <a:xfrm>
            <a:off x="2258568" y="2377440"/>
            <a:ext cx="1389888" cy="12700"/>
          </a:xfrm>
          <a:prstGeom prst="rect">
            <a:avLst/>
          </a:prstGeom>
          <a:solidFill>
            <a:srgbClr val="56C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1136" y="2514600"/>
            <a:ext cx="1481328" cy="365760"/>
          </a:xfrm>
          <a:prstGeom prst="rect">
            <a:avLst/>
          </a:prstGeom>
          <a:noFill/>
        </p:spPr>
        <p:txBody>
          <a:bodyPr wrap="square">
            <a:spAutoFit/>
          </a:bodyPr>
          <a:lstStyle/>
          <a:p>
            <a:pPr algn="l"/>
            <a:r>
              <a:rPr sz="1000" b="0" i="0">
                <a:solidFill>
                  <a:srgbClr val="E8F4F8"/>
                </a:solidFill>
                <a:latin typeface="Calibri"/>
              </a:rPr>
              <a:t>› LLM Parsing</a:t>
            </a:r>
          </a:p>
        </p:txBody>
      </p:sp>
      <p:sp>
        <p:nvSpPr>
          <p:cNvPr id="20" name="TextBox 19"/>
          <p:cNvSpPr txBox="1"/>
          <p:nvPr/>
        </p:nvSpPr>
        <p:spPr>
          <a:xfrm>
            <a:off x="2231136" y="2898648"/>
            <a:ext cx="1481328" cy="365760"/>
          </a:xfrm>
          <a:prstGeom prst="rect">
            <a:avLst/>
          </a:prstGeom>
          <a:noFill/>
        </p:spPr>
        <p:txBody>
          <a:bodyPr wrap="square">
            <a:spAutoFit/>
          </a:bodyPr>
          <a:lstStyle/>
          <a:p>
            <a:pPr algn="l"/>
            <a:r>
              <a:rPr sz="1000" b="0" i="0">
                <a:solidFill>
                  <a:srgbClr val="E8F4F8"/>
                </a:solidFill>
                <a:latin typeface="Calibri"/>
              </a:rPr>
              <a:t>› Entity Extraction</a:t>
            </a:r>
          </a:p>
        </p:txBody>
      </p:sp>
      <p:sp>
        <p:nvSpPr>
          <p:cNvPr id="21" name="TextBox 20"/>
          <p:cNvSpPr txBox="1"/>
          <p:nvPr/>
        </p:nvSpPr>
        <p:spPr>
          <a:xfrm>
            <a:off x="2231136" y="3282696"/>
            <a:ext cx="1481328" cy="365760"/>
          </a:xfrm>
          <a:prstGeom prst="rect">
            <a:avLst/>
          </a:prstGeom>
          <a:noFill/>
        </p:spPr>
        <p:txBody>
          <a:bodyPr wrap="square">
            <a:spAutoFit/>
          </a:bodyPr>
          <a:lstStyle/>
          <a:p>
            <a:pPr algn="l"/>
            <a:r>
              <a:rPr sz="1000" b="0" i="0">
                <a:solidFill>
                  <a:srgbClr val="E8F4F8"/>
                </a:solidFill>
                <a:latin typeface="Calibri"/>
              </a:rPr>
              <a:t>› Confidence Score</a:t>
            </a:r>
          </a:p>
        </p:txBody>
      </p:sp>
      <p:sp>
        <p:nvSpPr>
          <p:cNvPr id="22" name="TextBox 21"/>
          <p:cNvSpPr txBox="1"/>
          <p:nvPr/>
        </p:nvSpPr>
        <p:spPr>
          <a:xfrm>
            <a:off x="3803903" y="2468880"/>
            <a:ext cx="137160" cy="365760"/>
          </a:xfrm>
          <a:prstGeom prst="rect">
            <a:avLst/>
          </a:prstGeom>
          <a:noFill/>
        </p:spPr>
        <p:txBody>
          <a:bodyPr wrap="square">
            <a:spAutoFit/>
          </a:bodyPr>
          <a:lstStyle/>
          <a:p>
            <a:pPr algn="ctr"/>
            <a:r>
              <a:rPr sz="1600" b="1" i="0">
                <a:solidFill>
                  <a:srgbClr val="00B4D8"/>
                </a:solidFill>
                <a:latin typeface="Calibri"/>
              </a:rPr>
              <a:t>→</a:t>
            </a:r>
          </a:p>
        </p:txBody>
      </p:sp>
      <p:sp>
        <p:nvSpPr>
          <p:cNvPr id="23" name="Rounded Rectangle 22"/>
          <p:cNvSpPr/>
          <p:nvPr/>
        </p:nvSpPr>
        <p:spPr>
          <a:xfrm>
            <a:off x="3922776" y="1097280"/>
            <a:ext cx="1664208" cy="32918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526280" y="1188720"/>
            <a:ext cx="457200" cy="457200"/>
          </a:xfrm>
          <a:prstGeom prst="ellipse">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1188720"/>
            <a:ext cx="457200" cy="457200"/>
          </a:xfrm>
          <a:prstGeom prst="rect">
            <a:avLst/>
          </a:prstGeom>
          <a:noFill/>
        </p:spPr>
        <p:txBody>
          <a:bodyPr wrap="square">
            <a:spAutoFit/>
          </a:bodyPr>
          <a:lstStyle/>
          <a:p>
            <a:pPr algn="ctr"/>
            <a:r>
              <a:rPr sz="1400" b="1" i="0">
                <a:solidFill>
                  <a:srgbClr val="FFFFFF"/>
                </a:solidFill>
                <a:latin typeface="Calibri"/>
              </a:rPr>
              <a:t>3</a:t>
            </a:r>
          </a:p>
        </p:txBody>
      </p:sp>
      <p:sp>
        <p:nvSpPr>
          <p:cNvPr id="26" name="TextBox 25"/>
          <p:cNvSpPr txBox="1"/>
          <p:nvPr/>
        </p:nvSpPr>
        <p:spPr>
          <a:xfrm>
            <a:off x="3995928" y="1719072"/>
            <a:ext cx="1517904" cy="594360"/>
          </a:xfrm>
          <a:prstGeom prst="rect">
            <a:avLst/>
          </a:prstGeom>
          <a:noFill/>
        </p:spPr>
        <p:txBody>
          <a:bodyPr wrap="square">
            <a:spAutoFit/>
          </a:bodyPr>
          <a:lstStyle/>
          <a:p>
            <a:pPr algn="ctr"/>
            <a:r>
              <a:rPr sz="1200" b="1" i="0">
                <a:solidFill>
                  <a:srgbClr val="FFB703"/>
                </a:solidFill>
                <a:latin typeface="Calibri"/>
              </a:rPr>
              <a:t>CLUSTER
ANALYSIS</a:t>
            </a:r>
          </a:p>
        </p:txBody>
      </p:sp>
      <p:sp>
        <p:nvSpPr>
          <p:cNvPr id="27" name="Rectangle 26"/>
          <p:cNvSpPr/>
          <p:nvPr/>
        </p:nvSpPr>
        <p:spPr>
          <a:xfrm>
            <a:off x="4059936" y="2377440"/>
            <a:ext cx="1389888" cy="12700"/>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32504" y="2514600"/>
            <a:ext cx="1481328" cy="365760"/>
          </a:xfrm>
          <a:prstGeom prst="rect">
            <a:avLst/>
          </a:prstGeom>
          <a:noFill/>
        </p:spPr>
        <p:txBody>
          <a:bodyPr wrap="square">
            <a:spAutoFit/>
          </a:bodyPr>
          <a:lstStyle/>
          <a:p>
            <a:pPr algn="l"/>
            <a:r>
              <a:rPr sz="1000" b="0" i="0">
                <a:solidFill>
                  <a:srgbClr val="E8F4F8"/>
                </a:solidFill>
                <a:latin typeface="Calibri"/>
              </a:rPr>
              <a:t>› Batch Lookup</a:t>
            </a:r>
          </a:p>
        </p:txBody>
      </p:sp>
      <p:sp>
        <p:nvSpPr>
          <p:cNvPr id="29" name="TextBox 28"/>
          <p:cNvSpPr txBox="1"/>
          <p:nvPr/>
        </p:nvSpPr>
        <p:spPr>
          <a:xfrm>
            <a:off x="4032504" y="2898648"/>
            <a:ext cx="1481328" cy="365760"/>
          </a:xfrm>
          <a:prstGeom prst="rect">
            <a:avLst/>
          </a:prstGeom>
          <a:noFill/>
        </p:spPr>
        <p:txBody>
          <a:bodyPr wrap="square">
            <a:spAutoFit/>
          </a:bodyPr>
          <a:lstStyle/>
          <a:p>
            <a:pPr algn="l"/>
            <a:r>
              <a:rPr sz="1000" b="0" i="0">
                <a:solidFill>
                  <a:srgbClr val="E8F4F8"/>
                </a:solidFill>
                <a:latin typeface="Calibri"/>
              </a:rPr>
              <a:t>› Anomaly Detection</a:t>
            </a:r>
          </a:p>
        </p:txBody>
      </p:sp>
      <p:sp>
        <p:nvSpPr>
          <p:cNvPr id="30" name="TextBox 29"/>
          <p:cNvSpPr txBox="1"/>
          <p:nvPr/>
        </p:nvSpPr>
        <p:spPr>
          <a:xfrm>
            <a:off x="4032504" y="3282696"/>
            <a:ext cx="1481328" cy="365760"/>
          </a:xfrm>
          <a:prstGeom prst="rect">
            <a:avLst/>
          </a:prstGeom>
          <a:noFill/>
        </p:spPr>
        <p:txBody>
          <a:bodyPr wrap="square">
            <a:spAutoFit/>
          </a:bodyPr>
          <a:lstStyle/>
          <a:p>
            <a:pPr algn="l"/>
            <a:r>
              <a:rPr sz="1000" b="0" i="0">
                <a:solidFill>
                  <a:srgbClr val="E8F4F8"/>
                </a:solidFill>
                <a:latin typeface="Calibri"/>
              </a:rPr>
              <a:t>› Safety Report</a:t>
            </a:r>
          </a:p>
        </p:txBody>
      </p:sp>
      <p:sp>
        <p:nvSpPr>
          <p:cNvPr id="31" name="TextBox 30"/>
          <p:cNvSpPr txBox="1"/>
          <p:nvPr/>
        </p:nvSpPr>
        <p:spPr>
          <a:xfrm>
            <a:off x="5605272" y="2468880"/>
            <a:ext cx="137160" cy="365760"/>
          </a:xfrm>
          <a:prstGeom prst="rect">
            <a:avLst/>
          </a:prstGeom>
          <a:noFill/>
        </p:spPr>
        <p:txBody>
          <a:bodyPr wrap="square">
            <a:spAutoFit/>
          </a:bodyPr>
          <a:lstStyle/>
          <a:p>
            <a:pPr algn="ctr"/>
            <a:r>
              <a:rPr sz="1600" b="1" i="0">
                <a:solidFill>
                  <a:srgbClr val="00B4D8"/>
                </a:solidFill>
                <a:latin typeface="Calibri"/>
              </a:rPr>
              <a:t>→</a:t>
            </a:r>
          </a:p>
        </p:txBody>
      </p:sp>
      <p:sp>
        <p:nvSpPr>
          <p:cNvPr id="32" name="Rounded Rectangle 31"/>
          <p:cNvSpPr/>
          <p:nvPr/>
        </p:nvSpPr>
        <p:spPr>
          <a:xfrm>
            <a:off x="5724144" y="1097280"/>
            <a:ext cx="1664208" cy="32918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27648" y="1188720"/>
            <a:ext cx="457200" cy="457200"/>
          </a:xfrm>
          <a:prstGeom prst="ellipse">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7648" y="1188720"/>
            <a:ext cx="457200" cy="457200"/>
          </a:xfrm>
          <a:prstGeom prst="rect">
            <a:avLst/>
          </a:prstGeom>
          <a:noFill/>
        </p:spPr>
        <p:txBody>
          <a:bodyPr wrap="square">
            <a:spAutoFit/>
          </a:bodyPr>
          <a:lstStyle/>
          <a:p>
            <a:pPr algn="ctr"/>
            <a:r>
              <a:rPr sz="1400" b="1" i="0">
                <a:solidFill>
                  <a:srgbClr val="FFFFFF"/>
                </a:solidFill>
                <a:latin typeface="Calibri"/>
              </a:rPr>
              <a:t>4</a:t>
            </a:r>
          </a:p>
        </p:txBody>
      </p:sp>
      <p:sp>
        <p:nvSpPr>
          <p:cNvPr id="35" name="TextBox 34"/>
          <p:cNvSpPr txBox="1"/>
          <p:nvPr/>
        </p:nvSpPr>
        <p:spPr>
          <a:xfrm>
            <a:off x="5797296" y="1719072"/>
            <a:ext cx="1517904" cy="594360"/>
          </a:xfrm>
          <a:prstGeom prst="rect">
            <a:avLst/>
          </a:prstGeom>
          <a:noFill/>
        </p:spPr>
        <p:txBody>
          <a:bodyPr wrap="square">
            <a:spAutoFit/>
          </a:bodyPr>
          <a:lstStyle/>
          <a:p>
            <a:pPr algn="ctr"/>
            <a:r>
              <a:rPr sz="1200" b="1" i="0">
                <a:solidFill>
                  <a:srgbClr val="A85CFF"/>
                </a:solidFill>
                <a:latin typeface="Calibri"/>
              </a:rPr>
              <a:t>HUMAN
ACTION</a:t>
            </a:r>
          </a:p>
        </p:txBody>
      </p:sp>
      <p:sp>
        <p:nvSpPr>
          <p:cNvPr id="36" name="Rectangle 35"/>
          <p:cNvSpPr/>
          <p:nvPr/>
        </p:nvSpPr>
        <p:spPr>
          <a:xfrm>
            <a:off x="5861304" y="2377440"/>
            <a:ext cx="1389888" cy="12700"/>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33872" y="2514600"/>
            <a:ext cx="1481328" cy="365760"/>
          </a:xfrm>
          <a:prstGeom prst="rect">
            <a:avLst/>
          </a:prstGeom>
          <a:noFill/>
        </p:spPr>
        <p:txBody>
          <a:bodyPr wrap="square">
            <a:spAutoFit/>
          </a:bodyPr>
          <a:lstStyle/>
          <a:p>
            <a:pPr algn="l"/>
            <a:r>
              <a:rPr sz="1000" b="0" i="0">
                <a:solidFill>
                  <a:srgbClr val="E8F4F8"/>
                </a:solidFill>
                <a:latin typeface="Calibri"/>
              </a:rPr>
              <a:t>› EscalationApp</a:t>
            </a:r>
          </a:p>
        </p:txBody>
      </p:sp>
      <p:sp>
        <p:nvSpPr>
          <p:cNvPr id="38" name="TextBox 37"/>
          <p:cNvSpPr txBox="1"/>
          <p:nvPr/>
        </p:nvSpPr>
        <p:spPr>
          <a:xfrm>
            <a:off x="5833872" y="2898648"/>
            <a:ext cx="1481328" cy="365760"/>
          </a:xfrm>
          <a:prstGeom prst="rect">
            <a:avLst/>
          </a:prstGeom>
          <a:noFill/>
        </p:spPr>
        <p:txBody>
          <a:bodyPr wrap="square">
            <a:spAutoFit/>
          </a:bodyPr>
          <a:lstStyle/>
          <a:p>
            <a:pPr algn="l"/>
            <a:r>
              <a:rPr sz="1000" b="0" i="0">
                <a:solidFill>
                  <a:srgbClr val="E8F4F8"/>
                </a:solidFill>
                <a:latin typeface="Calibri"/>
              </a:rPr>
              <a:t>› HITL Review</a:t>
            </a:r>
          </a:p>
        </p:txBody>
      </p:sp>
      <p:sp>
        <p:nvSpPr>
          <p:cNvPr id="39" name="TextBox 38"/>
          <p:cNvSpPr txBox="1"/>
          <p:nvPr/>
        </p:nvSpPr>
        <p:spPr>
          <a:xfrm>
            <a:off x="5833872" y="3282696"/>
            <a:ext cx="1481328" cy="365760"/>
          </a:xfrm>
          <a:prstGeom prst="rect">
            <a:avLst/>
          </a:prstGeom>
          <a:noFill/>
        </p:spPr>
        <p:txBody>
          <a:bodyPr wrap="square">
            <a:spAutoFit/>
          </a:bodyPr>
          <a:lstStyle/>
          <a:p>
            <a:pPr algn="l"/>
            <a:r>
              <a:rPr sz="1000" b="0" i="0">
                <a:solidFill>
                  <a:srgbClr val="E8F4F8"/>
                </a:solidFill>
                <a:latin typeface="Calibri"/>
              </a:rPr>
              <a:t>› Officer Sign-off</a:t>
            </a:r>
          </a:p>
        </p:txBody>
      </p:sp>
      <p:sp>
        <p:nvSpPr>
          <p:cNvPr id="40" name="TextBox 39"/>
          <p:cNvSpPr txBox="1"/>
          <p:nvPr/>
        </p:nvSpPr>
        <p:spPr>
          <a:xfrm>
            <a:off x="7406640" y="2468880"/>
            <a:ext cx="137160" cy="365760"/>
          </a:xfrm>
          <a:prstGeom prst="rect">
            <a:avLst/>
          </a:prstGeom>
          <a:noFill/>
        </p:spPr>
        <p:txBody>
          <a:bodyPr wrap="square">
            <a:spAutoFit/>
          </a:bodyPr>
          <a:lstStyle/>
          <a:p>
            <a:pPr algn="ctr"/>
            <a:r>
              <a:rPr sz="1600" b="1" i="0">
                <a:solidFill>
                  <a:srgbClr val="00B4D8"/>
                </a:solidFill>
                <a:latin typeface="Calibri"/>
              </a:rPr>
              <a:t>→</a:t>
            </a:r>
          </a:p>
        </p:txBody>
      </p:sp>
      <p:sp>
        <p:nvSpPr>
          <p:cNvPr id="41" name="Rounded Rectangle 40"/>
          <p:cNvSpPr/>
          <p:nvPr/>
        </p:nvSpPr>
        <p:spPr>
          <a:xfrm>
            <a:off x="7525512" y="1097280"/>
            <a:ext cx="1664208" cy="32918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129016" y="1188720"/>
            <a:ext cx="457200" cy="457200"/>
          </a:xfrm>
          <a:prstGeom prst="ellipse">
            <a:avLst/>
          </a:prstGeom>
          <a:solidFill>
            <a:srgbClr val="EF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29016" y="1188720"/>
            <a:ext cx="457200" cy="457200"/>
          </a:xfrm>
          <a:prstGeom prst="rect">
            <a:avLst/>
          </a:prstGeom>
          <a:noFill/>
        </p:spPr>
        <p:txBody>
          <a:bodyPr wrap="square">
            <a:spAutoFit/>
          </a:bodyPr>
          <a:lstStyle/>
          <a:p>
            <a:pPr algn="ctr"/>
            <a:r>
              <a:rPr sz="1400" b="1" i="0">
                <a:solidFill>
                  <a:srgbClr val="FFFFFF"/>
                </a:solidFill>
                <a:latin typeface="Calibri"/>
              </a:rPr>
              <a:t>5</a:t>
            </a:r>
          </a:p>
        </p:txBody>
      </p:sp>
      <p:sp>
        <p:nvSpPr>
          <p:cNvPr id="44" name="TextBox 43"/>
          <p:cNvSpPr txBox="1"/>
          <p:nvPr/>
        </p:nvSpPr>
        <p:spPr>
          <a:xfrm>
            <a:off x="7598664" y="1719072"/>
            <a:ext cx="1517904" cy="594360"/>
          </a:xfrm>
          <a:prstGeom prst="rect">
            <a:avLst/>
          </a:prstGeom>
          <a:noFill/>
        </p:spPr>
        <p:txBody>
          <a:bodyPr wrap="square">
            <a:spAutoFit/>
          </a:bodyPr>
          <a:lstStyle/>
          <a:p>
            <a:pPr algn="ctr"/>
            <a:r>
              <a:rPr sz="1200" b="1" i="0">
                <a:solidFill>
                  <a:srgbClr val="EF475A"/>
                </a:solidFill>
                <a:latin typeface="Calibri"/>
              </a:rPr>
              <a:t>RECALL
DECISION</a:t>
            </a:r>
          </a:p>
        </p:txBody>
      </p:sp>
      <p:sp>
        <p:nvSpPr>
          <p:cNvPr id="45" name="Rectangle 44"/>
          <p:cNvSpPr/>
          <p:nvPr/>
        </p:nvSpPr>
        <p:spPr>
          <a:xfrm>
            <a:off x="7662672" y="2377440"/>
            <a:ext cx="1389888" cy="12700"/>
          </a:xfrm>
          <a:prstGeom prst="rect">
            <a:avLst/>
          </a:prstGeom>
          <a:solidFill>
            <a:srgbClr val="EF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35240" y="2514600"/>
            <a:ext cx="1481328" cy="365760"/>
          </a:xfrm>
          <a:prstGeom prst="rect">
            <a:avLst/>
          </a:prstGeom>
          <a:noFill/>
        </p:spPr>
        <p:txBody>
          <a:bodyPr wrap="square">
            <a:spAutoFit/>
          </a:bodyPr>
          <a:lstStyle/>
          <a:p>
            <a:pPr algn="l"/>
            <a:r>
              <a:rPr sz="1000" b="0" i="0">
                <a:solidFill>
                  <a:srgbClr val="E8F4F8"/>
                </a:solidFill>
                <a:latin typeface="Calibri"/>
              </a:rPr>
              <a:t>› Decision Agent</a:t>
            </a:r>
          </a:p>
        </p:txBody>
      </p:sp>
      <p:sp>
        <p:nvSpPr>
          <p:cNvPr id="47" name="TextBox 46"/>
          <p:cNvSpPr txBox="1"/>
          <p:nvPr/>
        </p:nvSpPr>
        <p:spPr>
          <a:xfrm>
            <a:off x="7635240" y="2898648"/>
            <a:ext cx="1481328" cy="365760"/>
          </a:xfrm>
          <a:prstGeom prst="rect">
            <a:avLst/>
          </a:prstGeom>
          <a:noFill/>
        </p:spPr>
        <p:txBody>
          <a:bodyPr wrap="square">
            <a:spAutoFit/>
          </a:bodyPr>
          <a:lstStyle/>
          <a:p>
            <a:pPr algn="l"/>
            <a:r>
              <a:rPr sz="1000" b="0" i="0">
                <a:solidFill>
                  <a:srgbClr val="E8F4F8"/>
                </a:solidFill>
                <a:latin typeface="Calibri"/>
              </a:rPr>
              <a:t>› Recall Report</a:t>
            </a:r>
          </a:p>
        </p:txBody>
      </p:sp>
      <p:sp>
        <p:nvSpPr>
          <p:cNvPr id="48" name="TextBox 47"/>
          <p:cNvSpPr txBox="1"/>
          <p:nvPr/>
        </p:nvSpPr>
        <p:spPr>
          <a:xfrm>
            <a:off x="7635240" y="3282696"/>
            <a:ext cx="1481328" cy="365760"/>
          </a:xfrm>
          <a:prstGeom prst="rect">
            <a:avLst/>
          </a:prstGeom>
          <a:noFill/>
        </p:spPr>
        <p:txBody>
          <a:bodyPr wrap="square">
            <a:spAutoFit/>
          </a:bodyPr>
          <a:lstStyle/>
          <a:p>
            <a:pPr algn="l"/>
            <a:r>
              <a:rPr sz="1000" b="0" i="0">
                <a:solidFill>
                  <a:srgbClr val="E8F4F8"/>
                </a:solidFill>
                <a:latin typeface="Calibri"/>
              </a:rPr>
              <a:t>› Action Routing</a:t>
            </a:r>
          </a:p>
        </p:txBody>
      </p:sp>
      <p:sp>
        <p:nvSpPr>
          <p:cNvPr id="49" name="TextBox 48"/>
          <p:cNvSpPr txBox="1"/>
          <p:nvPr/>
        </p:nvSpPr>
        <p:spPr>
          <a:xfrm>
            <a:off x="9208008" y="2468880"/>
            <a:ext cx="137160" cy="365760"/>
          </a:xfrm>
          <a:prstGeom prst="rect">
            <a:avLst/>
          </a:prstGeom>
          <a:noFill/>
        </p:spPr>
        <p:txBody>
          <a:bodyPr wrap="square">
            <a:spAutoFit/>
          </a:bodyPr>
          <a:lstStyle/>
          <a:p>
            <a:pPr algn="ctr"/>
            <a:r>
              <a:rPr sz="1600" b="1" i="0">
                <a:solidFill>
                  <a:srgbClr val="00B4D8"/>
                </a:solidFill>
                <a:latin typeface="Calibri"/>
              </a:rPr>
              <a:t>→</a:t>
            </a:r>
          </a:p>
        </p:txBody>
      </p:sp>
      <p:sp>
        <p:nvSpPr>
          <p:cNvPr id="50" name="Rounded Rectangle 49"/>
          <p:cNvSpPr/>
          <p:nvPr/>
        </p:nvSpPr>
        <p:spPr>
          <a:xfrm>
            <a:off x="9326880" y="1097280"/>
            <a:ext cx="1664208" cy="32918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930384" y="1188720"/>
            <a:ext cx="457200" cy="457200"/>
          </a:xfrm>
          <a:prstGeom prst="ellipse">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30384" y="1188720"/>
            <a:ext cx="457200" cy="457200"/>
          </a:xfrm>
          <a:prstGeom prst="rect">
            <a:avLst/>
          </a:prstGeom>
          <a:noFill/>
        </p:spPr>
        <p:txBody>
          <a:bodyPr wrap="square">
            <a:spAutoFit/>
          </a:bodyPr>
          <a:lstStyle/>
          <a:p>
            <a:pPr algn="ctr"/>
            <a:r>
              <a:rPr sz="1400" b="1" i="0">
                <a:solidFill>
                  <a:srgbClr val="FFFFFF"/>
                </a:solidFill>
                <a:latin typeface="Calibri"/>
              </a:rPr>
              <a:t>6</a:t>
            </a:r>
          </a:p>
        </p:txBody>
      </p:sp>
      <p:sp>
        <p:nvSpPr>
          <p:cNvPr id="53" name="TextBox 52"/>
          <p:cNvSpPr txBox="1"/>
          <p:nvPr/>
        </p:nvSpPr>
        <p:spPr>
          <a:xfrm>
            <a:off x="9400032" y="1719072"/>
            <a:ext cx="1517904" cy="594360"/>
          </a:xfrm>
          <a:prstGeom prst="rect">
            <a:avLst/>
          </a:prstGeom>
          <a:noFill/>
        </p:spPr>
        <p:txBody>
          <a:bodyPr wrap="square">
            <a:spAutoFit/>
          </a:bodyPr>
          <a:lstStyle/>
          <a:p>
            <a:pPr algn="ctr"/>
            <a:r>
              <a:rPr sz="1200" b="1" i="0">
                <a:solidFill>
                  <a:srgbClr val="06D6A0"/>
                </a:solidFill>
                <a:latin typeface="Calibri"/>
              </a:rPr>
              <a:t>CLOSED</a:t>
            </a:r>
          </a:p>
        </p:txBody>
      </p:sp>
      <p:sp>
        <p:nvSpPr>
          <p:cNvPr id="54" name="Rectangle 53"/>
          <p:cNvSpPr/>
          <p:nvPr/>
        </p:nvSpPr>
        <p:spPr>
          <a:xfrm>
            <a:off x="9464040" y="2377440"/>
            <a:ext cx="1389888" cy="1270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36607" y="2514600"/>
            <a:ext cx="1481328" cy="365760"/>
          </a:xfrm>
          <a:prstGeom prst="rect">
            <a:avLst/>
          </a:prstGeom>
          <a:noFill/>
        </p:spPr>
        <p:txBody>
          <a:bodyPr wrap="square">
            <a:spAutoFit/>
          </a:bodyPr>
          <a:lstStyle/>
          <a:p>
            <a:pPr algn="l"/>
            <a:r>
              <a:rPr sz="1000" b="0" i="0">
                <a:solidFill>
                  <a:srgbClr val="E8F4F8"/>
                </a:solidFill>
                <a:latin typeface="Calibri"/>
              </a:rPr>
              <a:t>› Case Closure</a:t>
            </a:r>
          </a:p>
        </p:txBody>
      </p:sp>
      <p:sp>
        <p:nvSpPr>
          <p:cNvPr id="56" name="TextBox 55"/>
          <p:cNvSpPr txBox="1"/>
          <p:nvPr/>
        </p:nvSpPr>
        <p:spPr>
          <a:xfrm>
            <a:off x="9436607" y="2898648"/>
            <a:ext cx="1481328" cy="365760"/>
          </a:xfrm>
          <a:prstGeom prst="rect">
            <a:avLst/>
          </a:prstGeom>
          <a:noFill/>
        </p:spPr>
        <p:txBody>
          <a:bodyPr wrap="square">
            <a:spAutoFit/>
          </a:bodyPr>
          <a:lstStyle/>
          <a:p>
            <a:pPr algn="l"/>
            <a:r>
              <a:rPr sz="1000" b="0" i="0">
                <a:solidFill>
                  <a:srgbClr val="E8F4F8"/>
                </a:solidFill>
                <a:latin typeface="Calibri"/>
              </a:rPr>
              <a:t>› Gmail Alerts</a:t>
            </a:r>
          </a:p>
        </p:txBody>
      </p:sp>
      <p:sp>
        <p:nvSpPr>
          <p:cNvPr id="57" name="TextBox 56"/>
          <p:cNvSpPr txBox="1"/>
          <p:nvPr/>
        </p:nvSpPr>
        <p:spPr>
          <a:xfrm>
            <a:off x="9436607" y="3282696"/>
            <a:ext cx="1481328" cy="365760"/>
          </a:xfrm>
          <a:prstGeom prst="rect">
            <a:avLst/>
          </a:prstGeom>
          <a:noFill/>
        </p:spPr>
        <p:txBody>
          <a:bodyPr wrap="square">
            <a:spAutoFit/>
          </a:bodyPr>
          <a:lstStyle/>
          <a:p>
            <a:pPr algn="l"/>
            <a:r>
              <a:rPr sz="1000" b="0" i="0">
                <a:solidFill>
                  <a:srgbClr val="E8F4F8"/>
                </a:solidFill>
                <a:latin typeface="Calibri"/>
              </a:rPr>
              <a:t>› Case Archive</a:t>
            </a:r>
          </a:p>
        </p:txBody>
      </p:sp>
      <p:sp>
        <p:nvSpPr>
          <p:cNvPr id="58" name="Rounded Rectangle 57"/>
          <p:cNvSpPr/>
          <p:nvPr/>
        </p:nvSpPr>
        <p:spPr>
          <a:xfrm>
            <a:off x="320040" y="4617720"/>
            <a:ext cx="11521440" cy="1645920"/>
          </a:xfrm>
          <a:prstGeom prst="roundRect">
            <a:avLst>
              <a:gd name="adj" fmla="val 5000"/>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 y="4736592"/>
            <a:ext cx="3657600" cy="365760"/>
          </a:xfrm>
          <a:prstGeom prst="rect">
            <a:avLst/>
          </a:prstGeom>
          <a:noFill/>
        </p:spPr>
        <p:txBody>
          <a:bodyPr wrap="square">
            <a:spAutoFit/>
          </a:bodyPr>
          <a:lstStyle/>
          <a:p>
            <a:pPr algn="l"/>
            <a:r>
              <a:rPr sz="1300" b="1" i="0">
                <a:solidFill>
                  <a:srgbClr val="FFB703"/>
                </a:solidFill>
                <a:latin typeface="Calibri"/>
              </a:rPr>
              <a:t>⚡  Smart Confidence Gate:</a:t>
            </a:r>
          </a:p>
        </p:txBody>
      </p:sp>
      <p:sp>
        <p:nvSpPr>
          <p:cNvPr id="60" name="TextBox 59"/>
          <p:cNvSpPr txBox="1"/>
          <p:nvPr/>
        </p:nvSpPr>
        <p:spPr>
          <a:xfrm>
            <a:off x="594360" y="5102352"/>
            <a:ext cx="6400800" cy="347472"/>
          </a:xfrm>
          <a:prstGeom prst="rect">
            <a:avLst/>
          </a:prstGeom>
          <a:noFill/>
        </p:spPr>
        <p:txBody>
          <a:bodyPr wrap="square">
            <a:spAutoFit/>
          </a:bodyPr>
          <a:lstStyle/>
          <a:p>
            <a:pPr algn="l"/>
            <a:r>
              <a:rPr sz="1200" b="0" i="0">
                <a:solidFill>
                  <a:srgbClr val="06D6A0"/>
                </a:solidFill>
                <a:latin typeface="Calibri"/>
              </a:rPr>
              <a:t>Confidence ≥ 80%  →  Auto-proceed to Batch Lookup</a:t>
            </a:r>
          </a:p>
        </p:txBody>
      </p:sp>
      <p:sp>
        <p:nvSpPr>
          <p:cNvPr id="61" name="TextBox 60"/>
          <p:cNvSpPr txBox="1"/>
          <p:nvPr/>
        </p:nvSpPr>
        <p:spPr>
          <a:xfrm>
            <a:off x="594360" y="5440680"/>
            <a:ext cx="6400800" cy="347472"/>
          </a:xfrm>
          <a:prstGeom prst="rect">
            <a:avLst/>
          </a:prstGeom>
          <a:noFill/>
        </p:spPr>
        <p:txBody>
          <a:bodyPr wrap="square">
            <a:spAutoFit/>
          </a:bodyPr>
          <a:lstStyle/>
          <a:p>
            <a:pPr algn="l"/>
            <a:r>
              <a:rPr sz="1200" b="0" i="0">
                <a:solidFill>
                  <a:srgbClr val="EF475A"/>
                </a:solidFill>
                <a:latin typeface="Calibri"/>
              </a:rPr>
              <a:t>Confidence &lt; 80%  →  Fast-track to Human Review</a:t>
            </a:r>
          </a:p>
        </p:txBody>
      </p:sp>
      <p:sp>
        <p:nvSpPr>
          <p:cNvPr id="62" name="TextBox 61"/>
          <p:cNvSpPr txBox="1"/>
          <p:nvPr/>
        </p:nvSpPr>
        <p:spPr>
          <a:xfrm>
            <a:off x="9601200" y="4736592"/>
            <a:ext cx="1920240" cy="1097280"/>
          </a:xfrm>
          <a:prstGeom prst="rect">
            <a:avLst/>
          </a:prstGeom>
          <a:noFill/>
        </p:spPr>
        <p:txBody>
          <a:bodyPr wrap="square">
            <a:spAutoFit/>
          </a:bodyPr>
          <a:lstStyle/>
          <a:p>
            <a:pPr algn="ctr"/>
            <a:r>
              <a:rPr sz="1300" b="1" i="0">
                <a:solidFill>
                  <a:srgbClr val="00B4D8"/>
                </a:solidFill>
                <a:latin typeface="Calibri"/>
              </a:rPr>
              <a:t>Failsafe
Routing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200" b="1" i="0">
                <a:solidFill>
                  <a:srgbClr val="FFFFFF"/>
                </a:solidFill>
                <a:latin typeface="Cambria"/>
              </a:rPr>
              <a:t>SPECIALIZED COGNITIVE AGENTS</a:t>
            </a:r>
          </a:p>
        </p:txBody>
      </p:sp>
      <p:sp>
        <p:nvSpPr>
          <p:cNvPr id="4" name="TextBox 3"/>
          <p:cNvSpPr txBox="1"/>
          <p:nvPr/>
        </p:nvSpPr>
        <p:spPr>
          <a:xfrm>
            <a:off x="457200" y="566928"/>
            <a:ext cx="10972800" cy="347472"/>
          </a:xfrm>
          <a:prstGeom prst="rect">
            <a:avLst/>
          </a:prstGeom>
          <a:noFill/>
        </p:spPr>
        <p:txBody>
          <a:bodyPr wrap="square">
            <a:spAutoFit/>
          </a:bodyPr>
          <a:lstStyle/>
          <a:p>
            <a:pPr algn="l"/>
            <a:r>
              <a:rPr sz="1100" b="0" i="0">
                <a:solidFill>
                  <a:srgbClr val="B0C4D8"/>
                </a:solidFill>
                <a:latin typeface="Calibri"/>
              </a:rPr>
              <a:t>Powered by Gemini 2.5 Flash  ·  Built with UiPath Agent Builder  ·  8 Specialized Roles</a:t>
            </a:r>
          </a:p>
        </p:txBody>
      </p:sp>
      <p:sp>
        <p:nvSpPr>
          <p:cNvPr id="5" name="Rectangle 4"/>
          <p:cNvSpPr/>
          <p:nvPr/>
        </p:nvSpPr>
        <p:spPr>
          <a:xfrm>
            <a:off x="457200" y="841248"/>
            <a:ext cx="4572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8600" y="1097280"/>
            <a:ext cx="1828800" cy="53492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188720"/>
            <a:ext cx="457200" cy="457200"/>
          </a:xfrm>
          <a:prstGeom prst="rect">
            <a:avLst/>
          </a:prstGeom>
          <a:noFill/>
        </p:spPr>
        <p:txBody>
          <a:bodyPr wrap="square">
            <a:spAutoFit/>
          </a:bodyPr>
          <a:lstStyle/>
          <a:p>
            <a:pPr algn="ctr"/>
            <a:r>
              <a:rPr sz="2200" b="0" i="0">
                <a:solidFill>
                  <a:srgbClr val="FFFFFF"/>
                </a:solidFill>
                <a:latin typeface="Calibri"/>
              </a:rPr>
              <a:t>🧬</a:t>
            </a:r>
          </a:p>
        </p:txBody>
      </p:sp>
      <p:sp>
        <p:nvSpPr>
          <p:cNvPr id="8" name="TextBox 7"/>
          <p:cNvSpPr txBox="1"/>
          <p:nvPr/>
        </p:nvSpPr>
        <p:spPr>
          <a:xfrm>
            <a:off x="274320" y="1691640"/>
            <a:ext cx="1737360" cy="594360"/>
          </a:xfrm>
          <a:prstGeom prst="rect">
            <a:avLst/>
          </a:prstGeom>
          <a:noFill/>
        </p:spPr>
        <p:txBody>
          <a:bodyPr wrap="square">
            <a:spAutoFit/>
          </a:bodyPr>
          <a:lstStyle/>
          <a:p>
            <a:pPr algn="ctr"/>
            <a:r>
              <a:rPr sz="1100" b="1" i="0">
                <a:solidFill>
                  <a:srgbClr val="00B4D8"/>
                </a:solidFill>
                <a:latin typeface="Calibri"/>
              </a:rPr>
              <a:t>ComplaintIntelligence
Agent</a:t>
            </a:r>
          </a:p>
        </p:txBody>
      </p:sp>
      <p:sp>
        <p:nvSpPr>
          <p:cNvPr id="9" name="Rounded Rectangle 8"/>
          <p:cNvSpPr/>
          <p:nvPr/>
        </p:nvSpPr>
        <p:spPr>
          <a:xfrm>
            <a:off x="365760" y="2331720"/>
            <a:ext cx="1554480" cy="292608"/>
          </a:xfrm>
          <a:prstGeom prst="roundRect">
            <a:avLst>
              <a:gd name="adj" fmla="val 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2368296"/>
            <a:ext cx="1408176" cy="219456"/>
          </a:xfrm>
          <a:prstGeom prst="rect">
            <a:avLst/>
          </a:prstGeom>
          <a:noFill/>
        </p:spPr>
        <p:txBody>
          <a:bodyPr wrap="square">
            <a:spAutoFit/>
          </a:bodyPr>
          <a:lstStyle/>
          <a:p>
            <a:pPr algn="ctr"/>
            <a:r>
              <a:rPr sz="800" b="1" i="0">
                <a:solidFill>
                  <a:srgbClr val="FFFFFF"/>
                </a:solidFill>
                <a:latin typeface="Calibri"/>
              </a:rPr>
              <a:t>Entity Extraction</a:t>
            </a:r>
          </a:p>
        </p:txBody>
      </p:sp>
      <p:sp>
        <p:nvSpPr>
          <p:cNvPr id="11" name="TextBox 10"/>
          <p:cNvSpPr txBox="1"/>
          <p:nvPr/>
        </p:nvSpPr>
        <p:spPr>
          <a:xfrm>
            <a:off x="320040" y="2724912"/>
            <a:ext cx="1645920" cy="219456"/>
          </a:xfrm>
          <a:prstGeom prst="rect">
            <a:avLst/>
          </a:prstGeom>
          <a:noFill/>
        </p:spPr>
        <p:txBody>
          <a:bodyPr wrap="square">
            <a:spAutoFit/>
          </a:bodyPr>
          <a:lstStyle/>
          <a:p>
            <a:pPr algn="l"/>
            <a:r>
              <a:rPr sz="800" b="1" i="0">
                <a:solidFill>
                  <a:srgbClr val="B0C4D8"/>
                </a:solidFill>
                <a:latin typeface="Calibri"/>
              </a:rPr>
              <a:t>INPUTS</a:t>
            </a:r>
          </a:p>
        </p:txBody>
      </p:sp>
      <p:sp>
        <p:nvSpPr>
          <p:cNvPr id="12" name="TextBox 11"/>
          <p:cNvSpPr txBox="1"/>
          <p:nvPr/>
        </p:nvSpPr>
        <p:spPr>
          <a:xfrm>
            <a:off x="320040" y="2944368"/>
            <a:ext cx="1691640" cy="219456"/>
          </a:xfrm>
          <a:prstGeom prst="rect">
            <a:avLst/>
          </a:prstGeom>
          <a:noFill/>
        </p:spPr>
        <p:txBody>
          <a:bodyPr wrap="square">
            <a:spAutoFit/>
          </a:bodyPr>
          <a:lstStyle/>
          <a:p>
            <a:pPr algn="l"/>
            <a:r>
              <a:rPr sz="900" b="0" i="0">
                <a:solidFill>
                  <a:srgbClr val="E8F4F8"/>
                </a:solidFill>
                <a:latin typeface="Calibri"/>
              </a:rPr>
              <a:t>· Raw narrative text</a:t>
            </a:r>
          </a:p>
        </p:txBody>
      </p:sp>
      <p:sp>
        <p:nvSpPr>
          <p:cNvPr id="13" name="TextBox 12"/>
          <p:cNvSpPr txBox="1"/>
          <p:nvPr/>
        </p:nvSpPr>
        <p:spPr>
          <a:xfrm>
            <a:off x="320040" y="3255264"/>
            <a:ext cx="1645920" cy="219456"/>
          </a:xfrm>
          <a:prstGeom prst="rect">
            <a:avLst/>
          </a:prstGeom>
          <a:noFill/>
        </p:spPr>
        <p:txBody>
          <a:bodyPr wrap="square">
            <a:spAutoFit/>
          </a:bodyPr>
          <a:lstStyle/>
          <a:p>
            <a:pPr algn="l"/>
            <a:r>
              <a:rPr sz="800" b="1" i="0">
                <a:solidFill>
                  <a:srgbClr val="B0C4D8"/>
                </a:solidFill>
                <a:latin typeface="Calibri"/>
              </a:rPr>
              <a:t>OUTPUTS</a:t>
            </a:r>
          </a:p>
        </p:txBody>
      </p:sp>
      <p:sp>
        <p:nvSpPr>
          <p:cNvPr id="14" name="TextBox 13"/>
          <p:cNvSpPr txBox="1"/>
          <p:nvPr/>
        </p:nvSpPr>
        <p:spPr>
          <a:xfrm>
            <a:off x="320040" y="3474720"/>
            <a:ext cx="1691640" cy="219456"/>
          </a:xfrm>
          <a:prstGeom prst="rect">
            <a:avLst/>
          </a:prstGeom>
          <a:noFill/>
        </p:spPr>
        <p:txBody>
          <a:bodyPr wrap="square">
            <a:spAutoFit/>
          </a:bodyPr>
          <a:lstStyle/>
          <a:p>
            <a:pPr algn="l"/>
            <a:r>
              <a:rPr sz="900" b="0" i="0">
                <a:solidFill>
                  <a:srgbClr val="00B4D8"/>
                </a:solidFill>
                <a:latin typeface="Calibri"/>
              </a:rPr>
              <a:t>✓ Product Name</a:t>
            </a:r>
          </a:p>
        </p:txBody>
      </p:sp>
      <p:sp>
        <p:nvSpPr>
          <p:cNvPr id="15" name="TextBox 14"/>
          <p:cNvSpPr txBox="1"/>
          <p:nvPr/>
        </p:nvSpPr>
        <p:spPr>
          <a:xfrm>
            <a:off x="320040" y="3694176"/>
            <a:ext cx="1691640" cy="219456"/>
          </a:xfrm>
          <a:prstGeom prst="rect">
            <a:avLst/>
          </a:prstGeom>
          <a:noFill/>
        </p:spPr>
        <p:txBody>
          <a:bodyPr wrap="square">
            <a:spAutoFit/>
          </a:bodyPr>
          <a:lstStyle/>
          <a:p>
            <a:pPr algn="l"/>
            <a:r>
              <a:rPr sz="900" b="0" i="0">
                <a:solidFill>
                  <a:srgbClr val="00B4D8"/>
                </a:solidFill>
                <a:latin typeface="Calibri"/>
              </a:rPr>
              <a:t>✓ Batch ID</a:t>
            </a:r>
          </a:p>
        </p:txBody>
      </p:sp>
      <p:sp>
        <p:nvSpPr>
          <p:cNvPr id="16" name="TextBox 15"/>
          <p:cNvSpPr txBox="1"/>
          <p:nvPr/>
        </p:nvSpPr>
        <p:spPr>
          <a:xfrm>
            <a:off x="320040" y="3913631"/>
            <a:ext cx="1691640" cy="219456"/>
          </a:xfrm>
          <a:prstGeom prst="rect">
            <a:avLst/>
          </a:prstGeom>
          <a:noFill/>
        </p:spPr>
        <p:txBody>
          <a:bodyPr wrap="square">
            <a:spAutoFit/>
          </a:bodyPr>
          <a:lstStyle/>
          <a:p>
            <a:pPr algn="l"/>
            <a:r>
              <a:rPr sz="900" b="0" i="0">
                <a:solidFill>
                  <a:srgbClr val="00B4D8"/>
                </a:solidFill>
                <a:latin typeface="Calibri"/>
              </a:rPr>
              <a:t>✓ Symptom Category</a:t>
            </a:r>
          </a:p>
        </p:txBody>
      </p:sp>
      <p:sp>
        <p:nvSpPr>
          <p:cNvPr id="17" name="TextBox 16"/>
          <p:cNvSpPr txBox="1"/>
          <p:nvPr/>
        </p:nvSpPr>
        <p:spPr>
          <a:xfrm>
            <a:off x="320040" y="4133087"/>
            <a:ext cx="1691640" cy="219456"/>
          </a:xfrm>
          <a:prstGeom prst="rect">
            <a:avLst/>
          </a:prstGeom>
          <a:noFill/>
        </p:spPr>
        <p:txBody>
          <a:bodyPr wrap="square">
            <a:spAutoFit/>
          </a:bodyPr>
          <a:lstStyle/>
          <a:p>
            <a:pPr algn="l"/>
            <a:r>
              <a:rPr sz="900" b="0" i="0">
                <a:solidFill>
                  <a:srgbClr val="00B4D8"/>
                </a:solidFill>
                <a:latin typeface="Calibri"/>
              </a:rPr>
              <a:t>✓ Severity Score</a:t>
            </a:r>
          </a:p>
        </p:txBody>
      </p:sp>
      <p:sp>
        <p:nvSpPr>
          <p:cNvPr id="18" name="TextBox 17"/>
          <p:cNvSpPr txBox="1"/>
          <p:nvPr/>
        </p:nvSpPr>
        <p:spPr>
          <a:xfrm>
            <a:off x="320040" y="4352544"/>
            <a:ext cx="1691640" cy="219456"/>
          </a:xfrm>
          <a:prstGeom prst="rect">
            <a:avLst/>
          </a:prstGeom>
          <a:noFill/>
        </p:spPr>
        <p:txBody>
          <a:bodyPr wrap="square">
            <a:spAutoFit/>
          </a:bodyPr>
          <a:lstStyle/>
          <a:p>
            <a:pPr algn="l"/>
            <a:r>
              <a:rPr sz="900" b="0" i="0">
                <a:solidFill>
                  <a:srgbClr val="00B4D8"/>
                </a:solidFill>
                <a:latin typeface="Calibri"/>
              </a:rPr>
              <a:t>✓ Confidence %</a:t>
            </a:r>
          </a:p>
        </p:txBody>
      </p:sp>
      <p:sp>
        <p:nvSpPr>
          <p:cNvPr id="19" name="Rectangle 18"/>
          <p:cNvSpPr/>
          <p:nvPr/>
        </p:nvSpPr>
        <p:spPr>
          <a:xfrm>
            <a:off x="320040" y="4645152"/>
            <a:ext cx="1645920" cy="127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700016"/>
            <a:ext cx="1691640" cy="457200"/>
          </a:xfrm>
          <a:prstGeom prst="rect">
            <a:avLst/>
          </a:prstGeom>
          <a:noFill/>
        </p:spPr>
        <p:txBody>
          <a:bodyPr wrap="square">
            <a:spAutoFit/>
          </a:bodyPr>
          <a:lstStyle/>
          <a:p>
            <a:pPr algn="l"/>
            <a:r>
              <a:rPr sz="800" b="0" i="1">
                <a:solidFill>
                  <a:srgbClr val="B0C4D8"/>
                </a:solidFill>
                <a:latin typeface="Calibri"/>
              </a:rPr>
              <a:t>flags requires_human_review if confidence &lt; 80%</a:t>
            </a:r>
          </a:p>
        </p:txBody>
      </p:sp>
      <p:sp>
        <p:nvSpPr>
          <p:cNvPr id="21" name="Rounded Rectangle 20"/>
          <p:cNvSpPr/>
          <p:nvPr/>
        </p:nvSpPr>
        <p:spPr>
          <a:xfrm>
            <a:off x="2148840" y="1097280"/>
            <a:ext cx="1828800" cy="53492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62072" y="1188720"/>
            <a:ext cx="457200" cy="457200"/>
          </a:xfrm>
          <a:prstGeom prst="rect">
            <a:avLst/>
          </a:prstGeom>
          <a:noFill/>
        </p:spPr>
        <p:txBody>
          <a:bodyPr wrap="square">
            <a:spAutoFit/>
          </a:bodyPr>
          <a:lstStyle/>
          <a:p>
            <a:pPr algn="ctr"/>
            <a:r>
              <a:rPr sz="2200" b="0" i="0">
                <a:solidFill>
                  <a:srgbClr val="FFFFFF"/>
                </a:solidFill>
                <a:latin typeface="Calibri"/>
              </a:rPr>
              <a:t>🏭</a:t>
            </a:r>
          </a:p>
        </p:txBody>
      </p:sp>
      <p:sp>
        <p:nvSpPr>
          <p:cNvPr id="23" name="TextBox 22"/>
          <p:cNvSpPr txBox="1"/>
          <p:nvPr/>
        </p:nvSpPr>
        <p:spPr>
          <a:xfrm>
            <a:off x="2194560" y="1691640"/>
            <a:ext cx="1737360" cy="594360"/>
          </a:xfrm>
          <a:prstGeom prst="rect">
            <a:avLst/>
          </a:prstGeom>
          <a:noFill/>
        </p:spPr>
        <p:txBody>
          <a:bodyPr wrap="square">
            <a:spAutoFit/>
          </a:bodyPr>
          <a:lstStyle/>
          <a:p>
            <a:pPr algn="ctr"/>
            <a:r>
              <a:rPr sz="1100" b="1" i="0">
                <a:solidFill>
                  <a:srgbClr val="FFB703"/>
                </a:solidFill>
                <a:latin typeface="Calibri"/>
              </a:rPr>
              <a:t>BatchLookup
Agent</a:t>
            </a:r>
          </a:p>
        </p:txBody>
      </p:sp>
      <p:sp>
        <p:nvSpPr>
          <p:cNvPr id="24" name="Rounded Rectangle 23"/>
          <p:cNvSpPr/>
          <p:nvPr/>
        </p:nvSpPr>
        <p:spPr>
          <a:xfrm>
            <a:off x="2286000" y="2331720"/>
            <a:ext cx="1554480" cy="292608"/>
          </a:xfrm>
          <a:prstGeom prst="roundRect">
            <a:avLst>
              <a:gd name="adj" fmla="val 5000"/>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59152" y="2368296"/>
            <a:ext cx="1408176" cy="219456"/>
          </a:xfrm>
          <a:prstGeom prst="rect">
            <a:avLst/>
          </a:prstGeom>
          <a:noFill/>
        </p:spPr>
        <p:txBody>
          <a:bodyPr wrap="square">
            <a:spAutoFit/>
          </a:bodyPr>
          <a:lstStyle/>
          <a:p>
            <a:pPr algn="ctr"/>
            <a:r>
              <a:rPr sz="800" b="1" i="0">
                <a:solidFill>
                  <a:srgbClr val="FFFFFF"/>
                </a:solidFill>
                <a:latin typeface="Calibri"/>
              </a:rPr>
              <a:t>ERP Enrichment</a:t>
            </a:r>
          </a:p>
        </p:txBody>
      </p:sp>
      <p:sp>
        <p:nvSpPr>
          <p:cNvPr id="26" name="TextBox 25"/>
          <p:cNvSpPr txBox="1"/>
          <p:nvPr/>
        </p:nvSpPr>
        <p:spPr>
          <a:xfrm>
            <a:off x="2240280" y="2724912"/>
            <a:ext cx="1645920" cy="219456"/>
          </a:xfrm>
          <a:prstGeom prst="rect">
            <a:avLst/>
          </a:prstGeom>
          <a:noFill/>
        </p:spPr>
        <p:txBody>
          <a:bodyPr wrap="square">
            <a:spAutoFit/>
          </a:bodyPr>
          <a:lstStyle/>
          <a:p>
            <a:pPr algn="l"/>
            <a:r>
              <a:rPr sz="800" b="1" i="0">
                <a:solidFill>
                  <a:srgbClr val="B0C4D8"/>
                </a:solidFill>
                <a:latin typeface="Calibri"/>
              </a:rPr>
              <a:t>INPUTS</a:t>
            </a:r>
          </a:p>
        </p:txBody>
      </p:sp>
      <p:sp>
        <p:nvSpPr>
          <p:cNvPr id="27" name="TextBox 26"/>
          <p:cNvSpPr txBox="1"/>
          <p:nvPr/>
        </p:nvSpPr>
        <p:spPr>
          <a:xfrm>
            <a:off x="2240280" y="2944368"/>
            <a:ext cx="1691640" cy="219456"/>
          </a:xfrm>
          <a:prstGeom prst="rect">
            <a:avLst/>
          </a:prstGeom>
          <a:noFill/>
        </p:spPr>
        <p:txBody>
          <a:bodyPr wrap="square">
            <a:spAutoFit/>
          </a:bodyPr>
          <a:lstStyle/>
          <a:p>
            <a:pPr algn="l"/>
            <a:r>
              <a:rPr sz="900" b="0" i="0">
                <a:solidFill>
                  <a:srgbClr val="E8F4F8"/>
                </a:solidFill>
                <a:latin typeface="Calibri"/>
              </a:rPr>
              <a:t>· Product Name</a:t>
            </a:r>
          </a:p>
        </p:txBody>
      </p:sp>
      <p:sp>
        <p:nvSpPr>
          <p:cNvPr id="28" name="TextBox 27"/>
          <p:cNvSpPr txBox="1"/>
          <p:nvPr/>
        </p:nvSpPr>
        <p:spPr>
          <a:xfrm>
            <a:off x="2240280" y="3163824"/>
            <a:ext cx="1691640" cy="219456"/>
          </a:xfrm>
          <a:prstGeom prst="rect">
            <a:avLst/>
          </a:prstGeom>
          <a:noFill/>
        </p:spPr>
        <p:txBody>
          <a:bodyPr wrap="square">
            <a:spAutoFit/>
          </a:bodyPr>
          <a:lstStyle/>
          <a:p>
            <a:pPr algn="l"/>
            <a:r>
              <a:rPr sz="900" b="0" i="0">
                <a:solidFill>
                  <a:srgbClr val="E8F4F8"/>
                </a:solidFill>
                <a:latin typeface="Calibri"/>
              </a:rPr>
              <a:t>· Batch ID</a:t>
            </a:r>
          </a:p>
        </p:txBody>
      </p:sp>
      <p:sp>
        <p:nvSpPr>
          <p:cNvPr id="29" name="TextBox 28"/>
          <p:cNvSpPr txBox="1"/>
          <p:nvPr/>
        </p:nvSpPr>
        <p:spPr>
          <a:xfrm>
            <a:off x="2240280" y="3474720"/>
            <a:ext cx="1645920" cy="219456"/>
          </a:xfrm>
          <a:prstGeom prst="rect">
            <a:avLst/>
          </a:prstGeom>
          <a:noFill/>
        </p:spPr>
        <p:txBody>
          <a:bodyPr wrap="square">
            <a:spAutoFit/>
          </a:bodyPr>
          <a:lstStyle/>
          <a:p>
            <a:pPr algn="l"/>
            <a:r>
              <a:rPr sz="800" b="1" i="0">
                <a:solidFill>
                  <a:srgbClr val="B0C4D8"/>
                </a:solidFill>
                <a:latin typeface="Calibri"/>
              </a:rPr>
              <a:t>OUTPUTS</a:t>
            </a:r>
          </a:p>
        </p:txBody>
      </p:sp>
      <p:sp>
        <p:nvSpPr>
          <p:cNvPr id="30" name="TextBox 29"/>
          <p:cNvSpPr txBox="1"/>
          <p:nvPr/>
        </p:nvSpPr>
        <p:spPr>
          <a:xfrm>
            <a:off x="2240280" y="3694176"/>
            <a:ext cx="1691640" cy="219456"/>
          </a:xfrm>
          <a:prstGeom prst="rect">
            <a:avLst/>
          </a:prstGeom>
          <a:noFill/>
        </p:spPr>
        <p:txBody>
          <a:bodyPr wrap="square">
            <a:spAutoFit/>
          </a:bodyPr>
          <a:lstStyle/>
          <a:p>
            <a:pPr algn="l"/>
            <a:r>
              <a:rPr sz="900" b="0" i="0">
                <a:solidFill>
                  <a:srgbClr val="FFB703"/>
                </a:solidFill>
                <a:latin typeface="Calibri"/>
              </a:rPr>
              <a:t>✓ Manufacturing Facility</a:t>
            </a:r>
          </a:p>
        </p:txBody>
      </p:sp>
      <p:sp>
        <p:nvSpPr>
          <p:cNvPr id="31" name="TextBox 30"/>
          <p:cNvSpPr txBox="1"/>
          <p:nvPr/>
        </p:nvSpPr>
        <p:spPr>
          <a:xfrm>
            <a:off x="2240280" y="3913632"/>
            <a:ext cx="1691640" cy="219456"/>
          </a:xfrm>
          <a:prstGeom prst="rect">
            <a:avLst/>
          </a:prstGeom>
          <a:noFill/>
        </p:spPr>
        <p:txBody>
          <a:bodyPr wrap="square">
            <a:spAutoFit/>
          </a:bodyPr>
          <a:lstStyle/>
          <a:p>
            <a:pPr algn="l"/>
            <a:r>
              <a:rPr sz="900" b="0" i="0">
                <a:solidFill>
                  <a:srgbClr val="FFB703"/>
                </a:solidFill>
                <a:latin typeface="Calibri"/>
              </a:rPr>
              <a:t>✓ Distribution Geography</a:t>
            </a:r>
          </a:p>
        </p:txBody>
      </p:sp>
      <p:sp>
        <p:nvSpPr>
          <p:cNvPr id="32" name="TextBox 31"/>
          <p:cNvSpPr txBox="1"/>
          <p:nvPr/>
        </p:nvSpPr>
        <p:spPr>
          <a:xfrm>
            <a:off x="2240280" y="4133087"/>
            <a:ext cx="1691640" cy="219456"/>
          </a:xfrm>
          <a:prstGeom prst="rect">
            <a:avLst/>
          </a:prstGeom>
          <a:noFill/>
        </p:spPr>
        <p:txBody>
          <a:bodyPr wrap="square">
            <a:spAutoFit/>
          </a:bodyPr>
          <a:lstStyle/>
          <a:p>
            <a:pPr algn="l"/>
            <a:r>
              <a:rPr sz="900" b="0" i="0">
                <a:solidFill>
                  <a:srgbClr val="FFB703"/>
                </a:solidFill>
                <a:latin typeface="Calibri"/>
              </a:rPr>
              <a:t>✓ Historical Complaints</a:t>
            </a:r>
          </a:p>
        </p:txBody>
      </p:sp>
      <p:sp>
        <p:nvSpPr>
          <p:cNvPr id="33" name="Rectangle 32"/>
          <p:cNvSpPr/>
          <p:nvPr/>
        </p:nvSpPr>
        <p:spPr>
          <a:xfrm>
            <a:off x="2240280" y="4425696"/>
            <a:ext cx="1645920" cy="12700"/>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40280" y="4480559"/>
            <a:ext cx="1691640" cy="457200"/>
          </a:xfrm>
          <a:prstGeom prst="rect">
            <a:avLst/>
          </a:prstGeom>
          <a:noFill/>
        </p:spPr>
        <p:txBody>
          <a:bodyPr wrap="square">
            <a:spAutoFit/>
          </a:bodyPr>
          <a:lstStyle/>
          <a:p>
            <a:pPr algn="l"/>
            <a:r>
              <a:rPr sz="800" b="0" i="1">
                <a:solidFill>
                  <a:srgbClr val="B0C4D8"/>
                </a:solidFill>
                <a:latin typeface="Calibri"/>
              </a:rPr>
              <a:t>Cached fallback if ERP is unreachable</a:t>
            </a:r>
          </a:p>
        </p:txBody>
      </p:sp>
      <p:sp>
        <p:nvSpPr>
          <p:cNvPr id="35" name="Rounded Rectangle 34"/>
          <p:cNvSpPr/>
          <p:nvPr/>
        </p:nvSpPr>
        <p:spPr>
          <a:xfrm>
            <a:off x="4069080" y="1097280"/>
            <a:ext cx="1828800" cy="53492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82312" y="1188720"/>
            <a:ext cx="457200" cy="457200"/>
          </a:xfrm>
          <a:prstGeom prst="rect">
            <a:avLst/>
          </a:prstGeom>
          <a:noFill/>
        </p:spPr>
        <p:txBody>
          <a:bodyPr wrap="square">
            <a:spAutoFit/>
          </a:bodyPr>
          <a:lstStyle/>
          <a:p>
            <a:pPr algn="ctr"/>
            <a:r>
              <a:rPr sz="2200" b="0" i="0">
                <a:solidFill>
                  <a:srgbClr val="FFFFFF"/>
                </a:solidFill>
                <a:latin typeface="Calibri"/>
              </a:rPr>
              <a:t>📊</a:t>
            </a:r>
          </a:p>
        </p:txBody>
      </p:sp>
      <p:sp>
        <p:nvSpPr>
          <p:cNvPr id="37" name="TextBox 36"/>
          <p:cNvSpPr txBox="1"/>
          <p:nvPr/>
        </p:nvSpPr>
        <p:spPr>
          <a:xfrm>
            <a:off x="4114800" y="1691640"/>
            <a:ext cx="1737360" cy="594360"/>
          </a:xfrm>
          <a:prstGeom prst="rect">
            <a:avLst/>
          </a:prstGeom>
          <a:noFill/>
        </p:spPr>
        <p:txBody>
          <a:bodyPr wrap="square">
            <a:spAutoFit/>
          </a:bodyPr>
          <a:lstStyle/>
          <a:p>
            <a:pPr algn="ctr"/>
            <a:r>
              <a:rPr sz="1100" b="1" i="0">
                <a:solidFill>
                  <a:srgbClr val="EF475A"/>
                </a:solidFill>
                <a:latin typeface="Calibri"/>
              </a:rPr>
              <a:t>ClusterDetection
Agent</a:t>
            </a:r>
          </a:p>
        </p:txBody>
      </p:sp>
      <p:sp>
        <p:nvSpPr>
          <p:cNvPr id="38" name="Rounded Rectangle 37"/>
          <p:cNvSpPr/>
          <p:nvPr/>
        </p:nvSpPr>
        <p:spPr>
          <a:xfrm>
            <a:off x="4206240" y="2331720"/>
            <a:ext cx="1554480" cy="292608"/>
          </a:xfrm>
          <a:prstGeom prst="roundRect">
            <a:avLst>
              <a:gd name="adj" fmla="val 5000"/>
            </a:avLst>
          </a:prstGeom>
          <a:solidFill>
            <a:srgbClr val="EF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79392" y="2368296"/>
            <a:ext cx="1408176" cy="219456"/>
          </a:xfrm>
          <a:prstGeom prst="rect">
            <a:avLst/>
          </a:prstGeom>
          <a:noFill/>
        </p:spPr>
        <p:txBody>
          <a:bodyPr wrap="square">
            <a:spAutoFit/>
          </a:bodyPr>
          <a:lstStyle/>
          <a:p>
            <a:pPr algn="ctr"/>
            <a:r>
              <a:rPr sz="800" b="1" i="0">
                <a:solidFill>
                  <a:srgbClr val="FFFFFF"/>
                </a:solidFill>
                <a:latin typeface="Calibri"/>
              </a:rPr>
              <a:t>Anomaly Detection</a:t>
            </a:r>
          </a:p>
        </p:txBody>
      </p:sp>
      <p:sp>
        <p:nvSpPr>
          <p:cNvPr id="40" name="TextBox 39"/>
          <p:cNvSpPr txBox="1"/>
          <p:nvPr/>
        </p:nvSpPr>
        <p:spPr>
          <a:xfrm>
            <a:off x="4160520" y="2724912"/>
            <a:ext cx="1645920" cy="219456"/>
          </a:xfrm>
          <a:prstGeom prst="rect">
            <a:avLst/>
          </a:prstGeom>
          <a:noFill/>
        </p:spPr>
        <p:txBody>
          <a:bodyPr wrap="square">
            <a:spAutoFit/>
          </a:bodyPr>
          <a:lstStyle/>
          <a:p>
            <a:pPr algn="l"/>
            <a:r>
              <a:rPr sz="800" b="1" i="0">
                <a:solidFill>
                  <a:srgbClr val="B0C4D8"/>
                </a:solidFill>
                <a:latin typeface="Calibri"/>
              </a:rPr>
              <a:t>INPUTS</a:t>
            </a:r>
          </a:p>
        </p:txBody>
      </p:sp>
      <p:sp>
        <p:nvSpPr>
          <p:cNvPr id="41" name="TextBox 40"/>
          <p:cNvSpPr txBox="1"/>
          <p:nvPr/>
        </p:nvSpPr>
        <p:spPr>
          <a:xfrm>
            <a:off x="4160520" y="2944368"/>
            <a:ext cx="1691640" cy="219456"/>
          </a:xfrm>
          <a:prstGeom prst="rect">
            <a:avLst/>
          </a:prstGeom>
          <a:noFill/>
        </p:spPr>
        <p:txBody>
          <a:bodyPr wrap="square">
            <a:spAutoFit/>
          </a:bodyPr>
          <a:lstStyle/>
          <a:p>
            <a:pPr algn="l"/>
            <a:r>
              <a:rPr sz="900" b="0" i="0">
                <a:solidFill>
                  <a:srgbClr val="E8F4F8"/>
                </a:solidFill>
                <a:latin typeface="Calibri"/>
              </a:rPr>
              <a:t>· Symptoms</a:t>
            </a:r>
          </a:p>
        </p:txBody>
      </p:sp>
      <p:sp>
        <p:nvSpPr>
          <p:cNvPr id="42" name="TextBox 41"/>
          <p:cNvSpPr txBox="1"/>
          <p:nvPr/>
        </p:nvSpPr>
        <p:spPr>
          <a:xfrm>
            <a:off x="4160520" y="3163824"/>
            <a:ext cx="1691640" cy="219456"/>
          </a:xfrm>
          <a:prstGeom prst="rect">
            <a:avLst/>
          </a:prstGeom>
          <a:noFill/>
        </p:spPr>
        <p:txBody>
          <a:bodyPr wrap="square">
            <a:spAutoFit/>
          </a:bodyPr>
          <a:lstStyle/>
          <a:p>
            <a:pPr algn="l"/>
            <a:r>
              <a:rPr sz="900" b="0" i="0">
                <a:solidFill>
                  <a:srgbClr val="E8F4F8"/>
                </a:solidFill>
                <a:latin typeface="Calibri"/>
              </a:rPr>
              <a:t>· Batch history</a:t>
            </a:r>
          </a:p>
        </p:txBody>
      </p:sp>
      <p:sp>
        <p:nvSpPr>
          <p:cNvPr id="43" name="TextBox 42"/>
          <p:cNvSpPr txBox="1"/>
          <p:nvPr/>
        </p:nvSpPr>
        <p:spPr>
          <a:xfrm>
            <a:off x="4160520" y="3383280"/>
            <a:ext cx="1691640" cy="219456"/>
          </a:xfrm>
          <a:prstGeom prst="rect">
            <a:avLst/>
          </a:prstGeom>
          <a:noFill/>
        </p:spPr>
        <p:txBody>
          <a:bodyPr wrap="square">
            <a:spAutoFit/>
          </a:bodyPr>
          <a:lstStyle/>
          <a:p>
            <a:pPr algn="l"/>
            <a:r>
              <a:rPr sz="900" b="0" i="0">
                <a:solidFill>
                  <a:srgbClr val="E8F4F8"/>
                </a:solidFill>
                <a:latin typeface="Calibri"/>
              </a:rPr>
              <a:t>· Complaint cluster</a:t>
            </a:r>
          </a:p>
        </p:txBody>
      </p:sp>
      <p:sp>
        <p:nvSpPr>
          <p:cNvPr id="44" name="TextBox 43"/>
          <p:cNvSpPr txBox="1"/>
          <p:nvPr/>
        </p:nvSpPr>
        <p:spPr>
          <a:xfrm>
            <a:off x="4160520" y="3694176"/>
            <a:ext cx="1645920" cy="219456"/>
          </a:xfrm>
          <a:prstGeom prst="rect">
            <a:avLst/>
          </a:prstGeom>
          <a:noFill/>
        </p:spPr>
        <p:txBody>
          <a:bodyPr wrap="square">
            <a:spAutoFit/>
          </a:bodyPr>
          <a:lstStyle/>
          <a:p>
            <a:pPr algn="l"/>
            <a:r>
              <a:rPr sz="800" b="1" i="0">
                <a:solidFill>
                  <a:srgbClr val="B0C4D8"/>
                </a:solidFill>
                <a:latin typeface="Calibri"/>
              </a:rPr>
              <a:t>OUTPUTS</a:t>
            </a:r>
          </a:p>
        </p:txBody>
      </p:sp>
      <p:sp>
        <p:nvSpPr>
          <p:cNvPr id="45" name="TextBox 44"/>
          <p:cNvSpPr txBox="1"/>
          <p:nvPr/>
        </p:nvSpPr>
        <p:spPr>
          <a:xfrm>
            <a:off x="4160520" y="3913632"/>
            <a:ext cx="1691640" cy="219456"/>
          </a:xfrm>
          <a:prstGeom prst="rect">
            <a:avLst/>
          </a:prstGeom>
          <a:noFill/>
        </p:spPr>
        <p:txBody>
          <a:bodyPr wrap="square">
            <a:spAutoFit/>
          </a:bodyPr>
          <a:lstStyle/>
          <a:p>
            <a:pPr algn="l"/>
            <a:r>
              <a:rPr sz="900" b="0" i="0">
                <a:solidFill>
                  <a:srgbClr val="EF475A"/>
                </a:solidFill>
                <a:latin typeface="Calibri"/>
              </a:rPr>
              <a:t>✓ cluster_detected (bool)</a:t>
            </a:r>
          </a:p>
        </p:txBody>
      </p:sp>
      <p:sp>
        <p:nvSpPr>
          <p:cNvPr id="46" name="TextBox 45"/>
          <p:cNvSpPr txBox="1"/>
          <p:nvPr/>
        </p:nvSpPr>
        <p:spPr>
          <a:xfrm>
            <a:off x="4160520" y="4133088"/>
            <a:ext cx="1691640" cy="219456"/>
          </a:xfrm>
          <a:prstGeom prst="rect">
            <a:avLst/>
          </a:prstGeom>
          <a:noFill/>
        </p:spPr>
        <p:txBody>
          <a:bodyPr wrap="square">
            <a:spAutoFit/>
          </a:bodyPr>
          <a:lstStyle/>
          <a:p>
            <a:pPr algn="l"/>
            <a:r>
              <a:rPr sz="900" b="0" i="0">
                <a:solidFill>
                  <a:srgbClr val="EF475A"/>
                </a:solidFill>
                <a:latin typeface="Calibri"/>
              </a:rPr>
              <a:t>✓ Signal Strength (L/M/H)</a:t>
            </a:r>
          </a:p>
        </p:txBody>
      </p:sp>
      <p:sp>
        <p:nvSpPr>
          <p:cNvPr id="47" name="TextBox 46"/>
          <p:cNvSpPr txBox="1"/>
          <p:nvPr/>
        </p:nvSpPr>
        <p:spPr>
          <a:xfrm>
            <a:off x="4160520" y="4352544"/>
            <a:ext cx="1691640" cy="219456"/>
          </a:xfrm>
          <a:prstGeom prst="rect">
            <a:avLst/>
          </a:prstGeom>
          <a:noFill/>
        </p:spPr>
        <p:txBody>
          <a:bodyPr wrap="square">
            <a:spAutoFit/>
          </a:bodyPr>
          <a:lstStyle/>
          <a:p>
            <a:pPr algn="l"/>
            <a:r>
              <a:rPr sz="900" b="0" i="0">
                <a:solidFill>
                  <a:srgbClr val="EF475A"/>
                </a:solidFill>
                <a:latin typeface="Calibri"/>
              </a:rPr>
              <a:t>✓ Safety Report</a:t>
            </a:r>
          </a:p>
        </p:txBody>
      </p:sp>
      <p:sp>
        <p:nvSpPr>
          <p:cNvPr id="48" name="Rectangle 47"/>
          <p:cNvSpPr/>
          <p:nvPr/>
        </p:nvSpPr>
        <p:spPr>
          <a:xfrm>
            <a:off x="4160520" y="4645152"/>
            <a:ext cx="1645920" cy="12700"/>
          </a:xfrm>
          <a:prstGeom prst="rect">
            <a:avLst/>
          </a:prstGeom>
          <a:solidFill>
            <a:srgbClr val="EF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60520" y="4700016"/>
            <a:ext cx="1691640" cy="457200"/>
          </a:xfrm>
          <a:prstGeom prst="rect">
            <a:avLst/>
          </a:prstGeom>
          <a:noFill/>
        </p:spPr>
        <p:txBody>
          <a:bodyPr wrap="square">
            <a:spAutoFit/>
          </a:bodyPr>
          <a:lstStyle/>
          <a:p>
            <a:pPr algn="l"/>
            <a:r>
              <a:rPr sz="800" b="0" i="1">
                <a:solidFill>
                  <a:srgbClr val="B0C4D8"/>
                </a:solidFill>
                <a:latin typeface="Calibri"/>
              </a:rPr>
              <a:t>Fires if &gt; 3 identical symptom events on same batch</a:t>
            </a:r>
          </a:p>
        </p:txBody>
      </p:sp>
      <p:sp>
        <p:nvSpPr>
          <p:cNvPr id="50" name="Rounded Rectangle 49"/>
          <p:cNvSpPr/>
          <p:nvPr/>
        </p:nvSpPr>
        <p:spPr>
          <a:xfrm>
            <a:off x="5989320" y="1097280"/>
            <a:ext cx="1828800" cy="53492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02552" y="1188720"/>
            <a:ext cx="457200" cy="457200"/>
          </a:xfrm>
          <a:prstGeom prst="rect">
            <a:avLst/>
          </a:prstGeom>
          <a:noFill/>
        </p:spPr>
        <p:txBody>
          <a:bodyPr wrap="square">
            <a:spAutoFit/>
          </a:bodyPr>
          <a:lstStyle/>
          <a:p>
            <a:pPr algn="ctr"/>
            <a:r>
              <a:rPr sz="2200" b="0" i="0">
                <a:solidFill>
                  <a:srgbClr val="FFFFFF"/>
                </a:solidFill>
                <a:latin typeface="Calibri"/>
              </a:rPr>
              <a:t>🔍</a:t>
            </a:r>
          </a:p>
        </p:txBody>
      </p:sp>
      <p:sp>
        <p:nvSpPr>
          <p:cNvPr id="52" name="TextBox 51"/>
          <p:cNvSpPr txBox="1"/>
          <p:nvPr/>
        </p:nvSpPr>
        <p:spPr>
          <a:xfrm>
            <a:off x="6035040" y="1691640"/>
            <a:ext cx="1737360" cy="594360"/>
          </a:xfrm>
          <a:prstGeom prst="rect">
            <a:avLst/>
          </a:prstGeom>
          <a:noFill/>
        </p:spPr>
        <p:txBody>
          <a:bodyPr wrap="square">
            <a:spAutoFit/>
          </a:bodyPr>
          <a:lstStyle/>
          <a:p>
            <a:pPr algn="ctr"/>
            <a:r>
              <a:rPr sz="1100" b="1" i="0">
                <a:solidFill>
                  <a:srgbClr val="A85CFF"/>
                </a:solidFill>
                <a:latin typeface="Calibri"/>
              </a:rPr>
              <a:t>RecallDecision
Agent</a:t>
            </a:r>
          </a:p>
        </p:txBody>
      </p:sp>
      <p:sp>
        <p:nvSpPr>
          <p:cNvPr id="53" name="Rounded Rectangle 52"/>
          <p:cNvSpPr/>
          <p:nvPr/>
        </p:nvSpPr>
        <p:spPr>
          <a:xfrm>
            <a:off x="6126480" y="2331720"/>
            <a:ext cx="1554480" cy="292608"/>
          </a:xfrm>
          <a:prstGeom prst="roundRect">
            <a:avLst>
              <a:gd name="adj" fmla="val 5000"/>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99632" y="2368296"/>
            <a:ext cx="1408176" cy="219456"/>
          </a:xfrm>
          <a:prstGeom prst="rect">
            <a:avLst/>
          </a:prstGeom>
          <a:noFill/>
        </p:spPr>
        <p:txBody>
          <a:bodyPr wrap="square">
            <a:spAutoFit/>
          </a:bodyPr>
          <a:lstStyle/>
          <a:p>
            <a:pPr algn="ctr"/>
            <a:r>
              <a:rPr sz="800" b="1" i="0">
                <a:solidFill>
                  <a:srgbClr val="FFFFFF"/>
                </a:solidFill>
                <a:latin typeface="Calibri"/>
              </a:rPr>
              <a:t>Recall Evaluation</a:t>
            </a:r>
          </a:p>
        </p:txBody>
      </p:sp>
      <p:sp>
        <p:nvSpPr>
          <p:cNvPr id="55" name="TextBox 54"/>
          <p:cNvSpPr txBox="1"/>
          <p:nvPr/>
        </p:nvSpPr>
        <p:spPr>
          <a:xfrm>
            <a:off x="6080760" y="2724912"/>
            <a:ext cx="1645920" cy="219456"/>
          </a:xfrm>
          <a:prstGeom prst="rect">
            <a:avLst/>
          </a:prstGeom>
          <a:noFill/>
        </p:spPr>
        <p:txBody>
          <a:bodyPr wrap="square">
            <a:spAutoFit/>
          </a:bodyPr>
          <a:lstStyle/>
          <a:p>
            <a:pPr algn="l"/>
            <a:r>
              <a:rPr sz="800" b="1" i="0">
                <a:solidFill>
                  <a:srgbClr val="B0C4D8"/>
                </a:solidFill>
                <a:latin typeface="Calibri"/>
              </a:rPr>
              <a:t>INPUTS</a:t>
            </a:r>
          </a:p>
        </p:txBody>
      </p:sp>
      <p:sp>
        <p:nvSpPr>
          <p:cNvPr id="56" name="TextBox 55"/>
          <p:cNvSpPr txBox="1"/>
          <p:nvPr/>
        </p:nvSpPr>
        <p:spPr>
          <a:xfrm>
            <a:off x="6080760" y="2944368"/>
            <a:ext cx="1691640" cy="219456"/>
          </a:xfrm>
          <a:prstGeom prst="rect">
            <a:avLst/>
          </a:prstGeom>
          <a:noFill/>
        </p:spPr>
        <p:txBody>
          <a:bodyPr wrap="square">
            <a:spAutoFit/>
          </a:bodyPr>
          <a:lstStyle/>
          <a:p>
            <a:pPr algn="l"/>
            <a:r>
              <a:rPr sz="900" b="0" i="0">
                <a:solidFill>
                  <a:srgbClr val="E8F4F8"/>
                </a:solidFill>
                <a:latin typeface="Calibri"/>
              </a:rPr>
              <a:t>· HITL Decision Output</a:t>
            </a:r>
          </a:p>
        </p:txBody>
      </p:sp>
      <p:sp>
        <p:nvSpPr>
          <p:cNvPr id="57" name="TextBox 56"/>
          <p:cNvSpPr txBox="1"/>
          <p:nvPr/>
        </p:nvSpPr>
        <p:spPr>
          <a:xfrm>
            <a:off x="6080760" y="3163824"/>
            <a:ext cx="1691640" cy="219456"/>
          </a:xfrm>
          <a:prstGeom prst="rect">
            <a:avLst/>
          </a:prstGeom>
          <a:noFill/>
        </p:spPr>
        <p:txBody>
          <a:bodyPr wrap="square">
            <a:spAutoFit/>
          </a:bodyPr>
          <a:lstStyle/>
          <a:p>
            <a:pPr algn="l"/>
            <a:r>
              <a:rPr sz="900" b="0" i="0">
                <a:solidFill>
                  <a:srgbClr val="E8F4F8"/>
                </a:solidFill>
                <a:latin typeface="Calibri"/>
              </a:rPr>
              <a:t>· Cluster Report</a:t>
            </a:r>
          </a:p>
        </p:txBody>
      </p:sp>
      <p:sp>
        <p:nvSpPr>
          <p:cNvPr id="58" name="TextBox 57"/>
          <p:cNvSpPr txBox="1"/>
          <p:nvPr/>
        </p:nvSpPr>
        <p:spPr>
          <a:xfrm>
            <a:off x="6080760" y="3474720"/>
            <a:ext cx="1645920" cy="219456"/>
          </a:xfrm>
          <a:prstGeom prst="rect">
            <a:avLst/>
          </a:prstGeom>
          <a:noFill/>
        </p:spPr>
        <p:txBody>
          <a:bodyPr wrap="square">
            <a:spAutoFit/>
          </a:bodyPr>
          <a:lstStyle/>
          <a:p>
            <a:pPr algn="l"/>
            <a:r>
              <a:rPr sz="800" b="1" i="0">
                <a:solidFill>
                  <a:srgbClr val="B0C4D8"/>
                </a:solidFill>
                <a:latin typeface="Calibri"/>
              </a:rPr>
              <a:t>OUTPUTS</a:t>
            </a:r>
          </a:p>
        </p:txBody>
      </p:sp>
      <p:sp>
        <p:nvSpPr>
          <p:cNvPr id="59" name="TextBox 58"/>
          <p:cNvSpPr txBox="1"/>
          <p:nvPr/>
        </p:nvSpPr>
        <p:spPr>
          <a:xfrm>
            <a:off x="6080760" y="3694176"/>
            <a:ext cx="1691640" cy="219456"/>
          </a:xfrm>
          <a:prstGeom prst="rect">
            <a:avLst/>
          </a:prstGeom>
          <a:noFill/>
        </p:spPr>
        <p:txBody>
          <a:bodyPr wrap="square">
            <a:spAutoFit/>
          </a:bodyPr>
          <a:lstStyle/>
          <a:p>
            <a:pPr algn="l"/>
            <a:r>
              <a:rPr sz="900" b="0" i="0">
                <a:solidFill>
                  <a:srgbClr val="A85CFF"/>
                </a:solidFill>
                <a:latin typeface="Calibri"/>
              </a:rPr>
              <a:t>✓ Recall Report</a:t>
            </a:r>
          </a:p>
        </p:txBody>
      </p:sp>
      <p:sp>
        <p:nvSpPr>
          <p:cNvPr id="60" name="TextBox 59"/>
          <p:cNvSpPr txBox="1"/>
          <p:nvPr/>
        </p:nvSpPr>
        <p:spPr>
          <a:xfrm>
            <a:off x="6080760" y="3913632"/>
            <a:ext cx="1691640" cy="219456"/>
          </a:xfrm>
          <a:prstGeom prst="rect">
            <a:avLst/>
          </a:prstGeom>
          <a:noFill/>
        </p:spPr>
        <p:txBody>
          <a:bodyPr wrap="square">
            <a:spAutoFit/>
          </a:bodyPr>
          <a:lstStyle/>
          <a:p>
            <a:pPr algn="l"/>
            <a:r>
              <a:rPr sz="900" b="0" i="0">
                <a:solidFill>
                  <a:srgbClr val="A85CFF"/>
                </a:solidFill>
                <a:latin typeface="Calibri"/>
              </a:rPr>
              <a:t>✓ Action Recommendation</a:t>
            </a:r>
          </a:p>
        </p:txBody>
      </p:sp>
      <p:sp>
        <p:nvSpPr>
          <p:cNvPr id="61" name="TextBox 60"/>
          <p:cNvSpPr txBox="1"/>
          <p:nvPr/>
        </p:nvSpPr>
        <p:spPr>
          <a:xfrm>
            <a:off x="6080760" y="4133087"/>
            <a:ext cx="1691640" cy="219456"/>
          </a:xfrm>
          <a:prstGeom prst="rect">
            <a:avLst/>
          </a:prstGeom>
          <a:noFill/>
        </p:spPr>
        <p:txBody>
          <a:bodyPr wrap="square">
            <a:spAutoFit/>
          </a:bodyPr>
          <a:lstStyle/>
          <a:p>
            <a:pPr algn="l"/>
            <a:r>
              <a:rPr sz="900" b="0" i="0">
                <a:solidFill>
                  <a:srgbClr val="A85CFF"/>
                </a:solidFill>
                <a:latin typeface="Calibri"/>
              </a:rPr>
              <a:t>✓ Risk Assessment</a:t>
            </a:r>
          </a:p>
        </p:txBody>
      </p:sp>
      <p:sp>
        <p:nvSpPr>
          <p:cNvPr id="62" name="Rectangle 61"/>
          <p:cNvSpPr/>
          <p:nvPr/>
        </p:nvSpPr>
        <p:spPr>
          <a:xfrm>
            <a:off x="6080760" y="4425696"/>
            <a:ext cx="1645920" cy="12700"/>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80760" y="4480559"/>
            <a:ext cx="1691640" cy="457200"/>
          </a:xfrm>
          <a:prstGeom prst="rect">
            <a:avLst/>
          </a:prstGeom>
          <a:noFill/>
        </p:spPr>
        <p:txBody>
          <a:bodyPr wrap="square">
            <a:spAutoFit/>
          </a:bodyPr>
          <a:lstStyle/>
          <a:p>
            <a:pPr algn="l"/>
            <a:r>
              <a:rPr sz="800" b="0" i="1">
                <a:solidFill>
                  <a:srgbClr val="B0C4D8"/>
                </a:solidFill>
                <a:latin typeface="Calibri"/>
              </a:rPr>
              <a:t>Synthesizes recall report from HITL sign-off</a:t>
            </a:r>
          </a:p>
        </p:txBody>
      </p:sp>
      <p:sp>
        <p:nvSpPr>
          <p:cNvPr id="64" name="Rounded Rectangle 63"/>
          <p:cNvSpPr/>
          <p:nvPr/>
        </p:nvSpPr>
        <p:spPr>
          <a:xfrm>
            <a:off x="7909560" y="1097280"/>
            <a:ext cx="1828800" cy="53492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622792" y="1188720"/>
            <a:ext cx="457200" cy="457200"/>
          </a:xfrm>
          <a:prstGeom prst="rect">
            <a:avLst/>
          </a:prstGeom>
          <a:noFill/>
        </p:spPr>
        <p:txBody>
          <a:bodyPr wrap="square">
            <a:spAutoFit/>
          </a:bodyPr>
          <a:lstStyle/>
          <a:p>
            <a:pPr algn="ctr"/>
            <a:r>
              <a:rPr sz="2200" b="0" i="0">
                <a:solidFill>
                  <a:srgbClr val="FFFFFF"/>
                </a:solidFill>
                <a:latin typeface="Calibri"/>
              </a:rPr>
              <a:t>📋</a:t>
            </a:r>
          </a:p>
        </p:txBody>
      </p:sp>
      <p:sp>
        <p:nvSpPr>
          <p:cNvPr id="66" name="TextBox 65"/>
          <p:cNvSpPr txBox="1"/>
          <p:nvPr/>
        </p:nvSpPr>
        <p:spPr>
          <a:xfrm>
            <a:off x="7955280" y="1691640"/>
            <a:ext cx="1737360" cy="594360"/>
          </a:xfrm>
          <a:prstGeom prst="rect">
            <a:avLst/>
          </a:prstGeom>
          <a:noFill/>
        </p:spPr>
        <p:txBody>
          <a:bodyPr wrap="square">
            <a:spAutoFit/>
          </a:bodyPr>
          <a:lstStyle/>
          <a:p>
            <a:pPr algn="ctr"/>
            <a:r>
              <a:rPr sz="1100" b="1" i="0">
                <a:solidFill>
                  <a:srgbClr val="56CFE1"/>
                </a:solidFill>
                <a:latin typeface="Calibri"/>
              </a:rPr>
              <a:t>CaseClosure
Agent</a:t>
            </a:r>
          </a:p>
        </p:txBody>
      </p:sp>
      <p:sp>
        <p:nvSpPr>
          <p:cNvPr id="67" name="Rounded Rectangle 66"/>
          <p:cNvSpPr/>
          <p:nvPr/>
        </p:nvSpPr>
        <p:spPr>
          <a:xfrm>
            <a:off x="8046720" y="2331720"/>
            <a:ext cx="1554480" cy="292608"/>
          </a:xfrm>
          <a:prstGeom prst="roundRect">
            <a:avLst>
              <a:gd name="adj" fmla="val 5000"/>
            </a:avLst>
          </a:prstGeom>
          <a:solidFill>
            <a:srgbClr val="56C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119872" y="2368296"/>
            <a:ext cx="1408176" cy="219456"/>
          </a:xfrm>
          <a:prstGeom prst="rect">
            <a:avLst/>
          </a:prstGeom>
          <a:noFill/>
        </p:spPr>
        <p:txBody>
          <a:bodyPr wrap="square">
            <a:spAutoFit/>
          </a:bodyPr>
          <a:lstStyle/>
          <a:p>
            <a:pPr algn="ctr"/>
            <a:r>
              <a:rPr sz="800" b="1" i="0">
                <a:solidFill>
                  <a:srgbClr val="FFFFFF"/>
                </a:solidFill>
                <a:latin typeface="Calibri"/>
              </a:rPr>
              <a:t>Case Resolution</a:t>
            </a:r>
          </a:p>
        </p:txBody>
      </p:sp>
      <p:sp>
        <p:nvSpPr>
          <p:cNvPr id="69" name="TextBox 68"/>
          <p:cNvSpPr txBox="1"/>
          <p:nvPr/>
        </p:nvSpPr>
        <p:spPr>
          <a:xfrm>
            <a:off x="8001000" y="2724912"/>
            <a:ext cx="1645920" cy="219456"/>
          </a:xfrm>
          <a:prstGeom prst="rect">
            <a:avLst/>
          </a:prstGeom>
          <a:noFill/>
        </p:spPr>
        <p:txBody>
          <a:bodyPr wrap="square">
            <a:spAutoFit/>
          </a:bodyPr>
          <a:lstStyle/>
          <a:p>
            <a:pPr algn="l"/>
            <a:r>
              <a:rPr sz="800" b="1" i="0">
                <a:solidFill>
                  <a:srgbClr val="B0C4D8"/>
                </a:solidFill>
                <a:latin typeface="Calibri"/>
              </a:rPr>
              <a:t>INPUTS</a:t>
            </a:r>
          </a:p>
        </p:txBody>
      </p:sp>
      <p:sp>
        <p:nvSpPr>
          <p:cNvPr id="70" name="TextBox 69"/>
          <p:cNvSpPr txBox="1"/>
          <p:nvPr/>
        </p:nvSpPr>
        <p:spPr>
          <a:xfrm>
            <a:off x="8001000" y="2944368"/>
            <a:ext cx="1691640" cy="219456"/>
          </a:xfrm>
          <a:prstGeom prst="rect">
            <a:avLst/>
          </a:prstGeom>
          <a:noFill/>
        </p:spPr>
        <p:txBody>
          <a:bodyPr wrap="square">
            <a:spAutoFit/>
          </a:bodyPr>
          <a:lstStyle/>
          <a:p>
            <a:pPr algn="l"/>
            <a:r>
              <a:rPr sz="900" b="0" i="0">
                <a:solidFill>
                  <a:srgbClr val="E8F4F8"/>
                </a:solidFill>
                <a:latin typeface="Calibri"/>
              </a:rPr>
              <a:t>· Full case history</a:t>
            </a:r>
          </a:p>
        </p:txBody>
      </p:sp>
      <p:sp>
        <p:nvSpPr>
          <p:cNvPr id="71" name="TextBox 70"/>
          <p:cNvSpPr txBox="1"/>
          <p:nvPr/>
        </p:nvSpPr>
        <p:spPr>
          <a:xfrm>
            <a:off x="8001000" y="3163824"/>
            <a:ext cx="1691640" cy="219456"/>
          </a:xfrm>
          <a:prstGeom prst="rect">
            <a:avLst/>
          </a:prstGeom>
          <a:noFill/>
        </p:spPr>
        <p:txBody>
          <a:bodyPr wrap="square">
            <a:spAutoFit/>
          </a:bodyPr>
          <a:lstStyle/>
          <a:p>
            <a:pPr algn="l"/>
            <a:r>
              <a:rPr sz="900" b="0" i="0">
                <a:solidFill>
                  <a:srgbClr val="E8F4F8"/>
                </a:solidFill>
                <a:latin typeface="Calibri"/>
              </a:rPr>
              <a:t>· Decision record</a:t>
            </a:r>
          </a:p>
        </p:txBody>
      </p:sp>
      <p:sp>
        <p:nvSpPr>
          <p:cNvPr id="72" name="TextBox 71"/>
          <p:cNvSpPr txBox="1"/>
          <p:nvPr/>
        </p:nvSpPr>
        <p:spPr>
          <a:xfrm>
            <a:off x="8001000" y="3474720"/>
            <a:ext cx="1645920" cy="219456"/>
          </a:xfrm>
          <a:prstGeom prst="rect">
            <a:avLst/>
          </a:prstGeom>
          <a:noFill/>
        </p:spPr>
        <p:txBody>
          <a:bodyPr wrap="square">
            <a:spAutoFit/>
          </a:bodyPr>
          <a:lstStyle/>
          <a:p>
            <a:pPr algn="l"/>
            <a:r>
              <a:rPr sz="800" b="1" i="0">
                <a:solidFill>
                  <a:srgbClr val="B0C4D8"/>
                </a:solidFill>
                <a:latin typeface="Calibri"/>
              </a:rPr>
              <a:t>OUTPUTS</a:t>
            </a:r>
          </a:p>
        </p:txBody>
      </p:sp>
      <p:sp>
        <p:nvSpPr>
          <p:cNvPr id="73" name="TextBox 72"/>
          <p:cNvSpPr txBox="1"/>
          <p:nvPr/>
        </p:nvSpPr>
        <p:spPr>
          <a:xfrm>
            <a:off x="8001000" y="3694176"/>
            <a:ext cx="1691640" cy="219456"/>
          </a:xfrm>
          <a:prstGeom prst="rect">
            <a:avLst/>
          </a:prstGeom>
          <a:noFill/>
        </p:spPr>
        <p:txBody>
          <a:bodyPr wrap="square">
            <a:spAutoFit/>
          </a:bodyPr>
          <a:lstStyle/>
          <a:p>
            <a:pPr algn="l"/>
            <a:r>
              <a:rPr sz="900" b="0" i="0">
                <a:solidFill>
                  <a:srgbClr val="56CFE1"/>
                </a:solidFill>
                <a:latin typeface="Calibri"/>
              </a:rPr>
              <a:t>✓ Closure summary</a:t>
            </a:r>
          </a:p>
        </p:txBody>
      </p:sp>
      <p:sp>
        <p:nvSpPr>
          <p:cNvPr id="74" name="TextBox 73"/>
          <p:cNvSpPr txBox="1"/>
          <p:nvPr/>
        </p:nvSpPr>
        <p:spPr>
          <a:xfrm>
            <a:off x="8001000" y="3913632"/>
            <a:ext cx="1691640" cy="219456"/>
          </a:xfrm>
          <a:prstGeom prst="rect">
            <a:avLst/>
          </a:prstGeom>
          <a:noFill/>
        </p:spPr>
        <p:txBody>
          <a:bodyPr wrap="square">
            <a:spAutoFit/>
          </a:bodyPr>
          <a:lstStyle/>
          <a:p>
            <a:pPr algn="l"/>
            <a:r>
              <a:rPr sz="900" b="0" i="0">
                <a:solidFill>
                  <a:srgbClr val="56CFE1"/>
                </a:solidFill>
                <a:latin typeface="Calibri"/>
              </a:rPr>
              <a:t>✓ Safety records update</a:t>
            </a:r>
          </a:p>
        </p:txBody>
      </p:sp>
      <p:sp>
        <p:nvSpPr>
          <p:cNvPr id="75" name="TextBox 74"/>
          <p:cNvSpPr txBox="1"/>
          <p:nvPr/>
        </p:nvSpPr>
        <p:spPr>
          <a:xfrm>
            <a:off x="8001000" y="4133087"/>
            <a:ext cx="1691640" cy="219456"/>
          </a:xfrm>
          <a:prstGeom prst="rect">
            <a:avLst/>
          </a:prstGeom>
          <a:noFill/>
        </p:spPr>
        <p:txBody>
          <a:bodyPr wrap="square">
            <a:spAutoFit/>
          </a:bodyPr>
          <a:lstStyle/>
          <a:p>
            <a:pPr algn="l"/>
            <a:r>
              <a:rPr sz="900" b="0" i="0">
                <a:solidFill>
                  <a:srgbClr val="56CFE1"/>
                </a:solidFill>
                <a:latin typeface="Calibri"/>
              </a:rPr>
              <a:t>✓ Audit trail</a:t>
            </a:r>
          </a:p>
        </p:txBody>
      </p:sp>
      <p:sp>
        <p:nvSpPr>
          <p:cNvPr id="76" name="Rectangle 75"/>
          <p:cNvSpPr/>
          <p:nvPr/>
        </p:nvSpPr>
        <p:spPr>
          <a:xfrm>
            <a:off x="8001000" y="4425696"/>
            <a:ext cx="1645920" cy="12700"/>
          </a:xfrm>
          <a:prstGeom prst="rect">
            <a:avLst/>
          </a:prstGeom>
          <a:solidFill>
            <a:srgbClr val="56C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001000" y="4480559"/>
            <a:ext cx="1691640" cy="457200"/>
          </a:xfrm>
          <a:prstGeom prst="rect">
            <a:avLst/>
          </a:prstGeom>
          <a:noFill/>
        </p:spPr>
        <p:txBody>
          <a:bodyPr wrap="square">
            <a:spAutoFit/>
          </a:bodyPr>
          <a:lstStyle/>
          <a:p>
            <a:pPr algn="l"/>
            <a:r>
              <a:rPr sz="800" b="0" i="1">
                <a:solidFill>
                  <a:srgbClr val="B0C4D8"/>
                </a:solidFill>
                <a:latin typeface="Calibri"/>
              </a:rPr>
              <a:t>Compiles final case report and archives</a:t>
            </a:r>
          </a:p>
        </p:txBody>
      </p:sp>
      <p:sp>
        <p:nvSpPr>
          <p:cNvPr id="78" name="Rounded Rectangle 77"/>
          <p:cNvSpPr/>
          <p:nvPr/>
        </p:nvSpPr>
        <p:spPr>
          <a:xfrm>
            <a:off x="9829800" y="1097280"/>
            <a:ext cx="1828800" cy="53492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543032" y="1188720"/>
            <a:ext cx="457200" cy="457200"/>
          </a:xfrm>
          <a:prstGeom prst="rect">
            <a:avLst/>
          </a:prstGeom>
          <a:noFill/>
        </p:spPr>
        <p:txBody>
          <a:bodyPr wrap="square">
            <a:spAutoFit/>
          </a:bodyPr>
          <a:lstStyle/>
          <a:p>
            <a:pPr algn="ctr"/>
            <a:r>
              <a:rPr sz="2200" b="0" i="0">
                <a:solidFill>
                  <a:srgbClr val="FFFFFF"/>
                </a:solidFill>
                <a:latin typeface="Calibri"/>
              </a:rPr>
              <a:t>📧</a:t>
            </a:r>
          </a:p>
        </p:txBody>
      </p:sp>
      <p:sp>
        <p:nvSpPr>
          <p:cNvPr id="80" name="TextBox 79"/>
          <p:cNvSpPr txBox="1"/>
          <p:nvPr/>
        </p:nvSpPr>
        <p:spPr>
          <a:xfrm>
            <a:off x="9875520" y="1691640"/>
            <a:ext cx="1737360" cy="594360"/>
          </a:xfrm>
          <a:prstGeom prst="rect">
            <a:avLst/>
          </a:prstGeom>
          <a:noFill/>
        </p:spPr>
        <p:txBody>
          <a:bodyPr wrap="square">
            <a:spAutoFit/>
          </a:bodyPr>
          <a:lstStyle/>
          <a:p>
            <a:pPr algn="ctr"/>
            <a:r>
              <a:rPr sz="1100" b="1" i="0">
                <a:solidFill>
                  <a:srgbClr val="06D6A0"/>
                </a:solidFill>
                <a:latin typeface="Calibri"/>
              </a:rPr>
              <a:t>Gmail
Integration</a:t>
            </a:r>
          </a:p>
        </p:txBody>
      </p:sp>
      <p:sp>
        <p:nvSpPr>
          <p:cNvPr id="81" name="Rounded Rectangle 80"/>
          <p:cNvSpPr/>
          <p:nvPr/>
        </p:nvSpPr>
        <p:spPr>
          <a:xfrm>
            <a:off x="9966960" y="2331720"/>
            <a:ext cx="1554480" cy="292608"/>
          </a:xfrm>
          <a:prstGeom prst="roundRect">
            <a:avLst>
              <a:gd name="adj" fmla="val 5000"/>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040112" y="2368296"/>
            <a:ext cx="1408176" cy="219456"/>
          </a:xfrm>
          <a:prstGeom prst="rect">
            <a:avLst/>
          </a:prstGeom>
          <a:noFill/>
        </p:spPr>
        <p:txBody>
          <a:bodyPr wrap="square">
            <a:spAutoFit/>
          </a:bodyPr>
          <a:lstStyle/>
          <a:p>
            <a:pPr algn="ctr"/>
            <a:r>
              <a:rPr sz="800" b="1" i="0">
                <a:solidFill>
                  <a:srgbClr val="FFFFFF"/>
                </a:solidFill>
                <a:latin typeface="Calibri"/>
              </a:rPr>
              <a:t>Alert &amp; Notify</a:t>
            </a:r>
          </a:p>
        </p:txBody>
      </p:sp>
      <p:sp>
        <p:nvSpPr>
          <p:cNvPr id="83" name="TextBox 82"/>
          <p:cNvSpPr txBox="1"/>
          <p:nvPr/>
        </p:nvSpPr>
        <p:spPr>
          <a:xfrm>
            <a:off x="9921240" y="2724912"/>
            <a:ext cx="1645920" cy="219456"/>
          </a:xfrm>
          <a:prstGeom prst="rect">
            <a:avLst/>
          </a:prstGeom>
          <a:noFill/>
        </p:spPr>
        <p:txBody>
          <a:bodyPr wrap="square">
            <a:spAutoFit/>
          </a:bodyPr>
          <a:lstStyle/>
          <a:p>
            <a:pPr algn="l"/>
            <a:r>
              <a:rPr sz="800" b="1" i="0">
                <a:solidFill>
                  <a:srgbClr val="B0C4D8"/>
                </a:solidFill>
                <a:latin typeface="Calibri"/>
              </a:rPr>
              <a:t>INPUTS</a:t>
            </a:r>
          </a:p>
        </p:txBody>
      </p:sp>
      <p:sp>
        <p:nvSpPr>
          <p:cNvPr id="84" name="TextBox 83"/>
          <p:cNvSpPr txBox="1"/>
          <p:nvPr/>
        </p:nvSpPr>
        <p:spPr>
          <a:xfrm>
            <a:off x="9921240" y="2944368"/>
            <a:ext cx="1691640" cy="219456"/>
          </a:xfrm>
          <a:prstGeom prst="rect">
            <a:avLst/>
          </a:prstGeom>
          <a:noFill/>
        </p:spPr>
        <p:txBody>
          <a:bodyPr wrap="square">
            <a:spAutoFit/>
          </a:bodyPr>
          <a:lstStyle/>
          <a:p>
            <a:pPr algn="l"/>
            <a:r>
              <a:rPr sz="900" b="0" i="0">
                <a:solidFill>
                  <a:srgbClr val="E8F4F8"/>
                </a:solidFill>
                <a:latin typeface="Calibri"/>
              </a:rPr>
              <a:t>· Recall decision</a:t>
            </a:r>
          </a:p>
        </p:txBody>
      </p:sp>
      <p:sp>
        <p:nvSpPr>
          <p:cNvPr id="85" name="TextBox 84"/>
          <p:cNvSpPr txBox="1"/>
          <p:nvPr/>
        </p:nvSpPr>
        <p:spPr>
          <a:xfrm>
            <a:off x="9921240" y="3163824"/>
            <a:ext cx="1691640" cy="219456"/>
          </a:xfrm>
          <a:prstGeom prst="rect">
            <a:avLst/>
          </a:prstGeom>
          <a:noFill/>
        </p:spPr>
        <p:txBody>
          <a:bodyPr wrap="square">
            <a:spAutoFit/>
          </a:bodyPr>
          <a:lstStyle/>
          <a:p>
            <a:pPr algn="l"/>
            <a:r>
              <a:rPr sz="900" b="0" i="0">
                <a:solidFill>
                  <a:srgbClr val="E8F4F8"/>
                </a:solidFill>
                <a:latin typeface="Calibri"/>
              </a:rPr>
              <a:t>· Distributor list</a:t>
            </a:r>
          </a:p>
        </p:txBody>
      </p:sp>
      <p:sp>
        <p:nvSpPr>
          <p:cNvPr id="86" name="TextBox 85"/>
          <p:cNvSpPr txBox="1"/>
          <p:nvPr/>
        </p:nvSpPr>
        <p:spPr>
          <a:xfrm>
            <a:off x="9921240" y="3474720"/>
            <a:ext cx="1645920" cy="219456"/>
          </a:xfrm>
          <a:prstGeom prst="rect">
            <a:avLst/>
          </a:prstGeom>
          <a:noFill/>
        </p:spPr>
        <p:txBody>
          <a:bodyPr wrap="square">
            <a:spAutoFit/>
          </a:bodyPr>
          <a:lstStyle/>
          <a:p>
            <a:pPr algn="l"/>
            <a:r>
              <a:rPr sz="800" b="1" i="0">
                <a:solidFill>
                  <a:srgbClr val="B0C4D8"/>
                </a:solidFill>
                <a:latin typeface="Calibri"/>
              </a:rPr>
              <a:t>OUTPUTS</a:t>
            </a:r>
          </a:p>
        </p:txBody>
      </p:sp>
      <p:sp>
        <p:nvSpPr>
          <p:cNvPr id="87" name="TextBox 86"/>
          <p:cNvSpPr txBox="1"/>
          <p:nvPr/>
        </p:nvSpPr>
        <p:spPr>
          <a:xfrm>
            <a:off x="9921240" y="3694176"/>
            <a:ext cx="1691640" cy="219456"/>
          </a:xfrm>
          <a:prstGeom prst="rect">
            <a:avLst/>
          </a:prstGeom>
          <a:noFill/>
        </p:spPr>
        <p:txBody>
          <a:bodyPr wrap="square">
            <a:spAutoFit/>
          </a:bodyPr>
          <a:lstStyle/>
          <a:p>
            <a:pPr algn="l"/>
            <a:r>
              <a:rPr sz="900" b="0" i="0">
                <a:solidFill>
                  <a:srgbClr val="06D6A0"/>
                </a:solidFill>
                <a:latin typeface="Calibri"/>
              </a:rPr>
              <a:t>✓ Urgent email alerts</a:t>
            </a:r>
          </a:p>
        </p:txBody>
      </p:sp>
      <p:sp>
        <p:nvSpPr>
          <p:cNvPr id="88" name="TextBox 87"/>
          <p:cNvSpPr txBox="1"/>
          <p:nvPr/>
        </p:nvSpPr>
        <p:spPr>
          <a:xfrm>
            <a:off x="9921240" y="3913632"/>
            <a:ext cx="1691640" cy="219456"/>
          </a:xfrm>
          <a:prstGeom prst="rect">
            <a:avLst/>
          </a:prstGeom>
          <a:noFill/>
        </p:spPr>
        <p:txBody>
          <a:bodyPr wrap="square">
            <a:spAutoFit/>
          </a:bodyPr>
          <a:lstStyle/>
          <a:p>
            <a:pPr algn="l"/>
            <a:r>
              <a:rPr sz="900" b="0" i="0">
                <a:solidFill>
                  <a:srgbClr val="06D6A0"/>
                </a:solidFill>
                <a:latin typeface="Calibri"/>
              </a:rPr>
              <a:t>✓ Regulatory notifications</a:t>
            </a:r>
          </a:p>
        </p:txBody>
      </p:sp>
      <p:sp>
        <p:nvSpPr>
          <p:cNvPr id="89" name="TextBox 88"/>
          <p:cNvSpPr txBox="1"/>
          <p:nvPr/>
        </p:nvSpPr>
        <p:spPr>
          <a:xfrm>
            <a:off x="9921240" y="4133087"/>
            <a:ext cx="1691640" cy="219456"/>
          </a:xfrm>
          <a:prstGeom prst="rect">
            <a:avLst/>
          </a:prstGeom>
          <a:noFill/>
        </p:spPr>
        <p:txBody>
          <a:bodyPr wrap="square">
            <a:spAutoFit/>
          </a:bodyPr>
          <a:lstStyle/>
          <a:p>
            <a:pPr algn="l"/>
            <a:r>
              <a:rPr sz="900" b="0" i="0">
                <a:solidFill>
                  <a:srgbClr val="06D6A0"/>
                </a:solidFill>
                <a:latin typeface="Calibri"/>
              </a:rPr>
              <a:t>✓ Supplier warnings</a:t>
            </a:r>
          </a:p>
        </p:txBody>
      </p:sp>
      <p:sp>
        <p:nvSpPr>
          <p:cNvPr id="90" name="Rectangle 89"/>
          <p:cNvSpPr/>
          <p:nvPr/>
        </p:nvSpPr>
        <p:spPr>
          <a:xfrm>
            <a:off x="9921240" y="4425696"/>
            <a:ext cx="1645920" cy="1270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921240" y="4480559"/>
            <a:ext cx="1691640" cy="457200"/>
          </a:xfrm>
          <a:prstGeom prst="rect">
            <a:avLst/>
          </a:prstGeom>
          <a:noFill/>
        </p:spPr>
        <p:txBody>
          <a:bodyPr wrap="square">
            <a:spAutoFit/>
          </a:bodyPr>
          <a:lstStyle/>
          <a:p>
            <a:pPr algn="l"/>
            <a:r>
              <a:rPr sz="800" b="0" i="1">
                <a:solidFill>
                  <a:srgbClr val="B0C4D8"/>
                </a:solidFill>
                <a:latin typeface="Calibri"/>
              </a:rPr>
              <a:t>Triggered only on human-approved Recall decision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200" b="1" i="0">
                <a:solidFill>
                  <a:srgbClr val="FFFFFF"/>
                </a:solidFill>
                <a:latin typeface="Cambria"/>
              </a:rPr>
              <a:t>HUMAN-IN-THE-LOOP GOVERNANCE</a:t>
            </a:r>
          </a:p>
        </p:txBody>
      </p:sp>
      <p:sp>
        <p:nvSpPr>
          <p:cNvPr id="4" name="Rectangle 3"/>
          <p:cNvSpPr/>
          <p:nvPr/>
        </p:nvSpPr>
        <p:spPr>
          <a:xfrm>
            <a:off x="457200" y="804672"/>
            <a:ext cx="36576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51560"/>
            <a:ext cx="3840480" cy="534924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70432"/>
            <a:ext cx="3474720" cy="438912"/>
          </a:xfrm>
          <a:prstGeom prst="rect">
            <a:avLst/>
          </a:prstGeom>
          <a:noFill/>
        </p:spPr>
        <p:txBody>
          <a:bodyPr wrap="square">
            <a:spAutoFit/>
          </a:bodyPr>
          <a:lstStyle/>
          <a:p>
            <a:pPr algn="l"/>
            <a:r>
              <a:rPr sz="1600" b="1" i="0">
                <a:solidFill>
                  <a:srgbClr val="00B4D8"/>
                </a:solidFill>
                <a:latin typeface="Calibri"/>
              </a:rPr>
              <a:t>Why HITL?</a:t>
            </a:r>
          </a:p>
        </p:txBody>
      </p:sp>
      <p:sp>
        <p:nvSpPr>
          <p:cNvPr id="7" name="Rectangle 6"/>
          <p:cNvSpPr/>
          <p:nvPr/>
        </p:nvSpPr>
        <p:spPr>
          <a:xfrm>
            <a:off x="594360" y="1645920"/>
            <a:ext cx="3291840" cy="127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3383280" cy="594360"/>
          </a:xfrm>
          <a:prstGeom prst="rect">
            <a:avLst/>
          </a:prstGeom>
          <a:noFill/>
        </p:spPr>
        <p:txBody>
          <a:bodyPr wrap="square">
            <a:spAutoFit/>
          </a:bodyPr>
          <a:lstStyle/>
          <a:p>
            <a:pPr algn="l"/>
            <a:r>
              <a:rPr sz="1200" b="0" i="0">
                <a:solidFill>
                  <a:srgbClr val="E8F4F8"/>
                </a:solidFill>
                <a:latin typeface="Calibri"/>
              </a:rPr>
              <a:t>◆  Pharmaceutical recalls carry massive legal &amp; ethical weight</a:t>
            </a:r>
          </a:p>
        </p:txBody>
      </p:sp>
      <p:sp>
        <p:nvSpPr>
          <p:cNvPr id="9" name="TextBox 8"/>
          <p:cNvSpPr txBox="1"/>
          <p:nvPr/>
        </p:nvSpPr>
        <p:spPr>
          <a:xfrm>
            <a:off x="594360" y="2468880"/>
            <a:ext cx="3383280" cy="594360"/>
          </a:xfrm>
          <a:prstGeom prst="rect">
            <a:avLst/>
          </a:prstGeom>
          <a:noFill/>
        </p:spPr>
        <p:txBody>
          <a:bodyPr wrap="square">
            <a:spAutoFit/>
          </a:bodyPr>
          <a:lstStyle/>
          <a:p>
            <a:pPr algn="l"/>
            <a:r>
              <a:rPr sz="1200" b="0" i="0">
                <a:solidFill>
                  <a:srgbClr val="E8F4F8"/>
                </a:solidFill>
                <a:latin typeface="Calibri"/>
              </a:rPr>
              <a:t>◆  AI confidence alone cannot authorize a recall</a:t>
            </a:r>
          </a:p>
        </p:txBody>
      </p:sp>
      <p:sp>
        <p:nvSpPr>
          <p:cNvPr id="10" name="TextBox 9"/>
          <p:cNvSpPr txBox="1"/>
          <p:nvPr/>
        </p:nvSpPr>
        <p:spPr>
          <a:xfrm>
            <a:off x="594360" y="3154680"/>
            <a:ext cx="3383280" cy="594360"/>
          </a:xfrm>
          <a:prstGeom prst="rect">
            <a:avLst/>
          </a:prstGeom>
          <a:noFill/>
        </p:spPr>
        <p:txBody>
          <a:bodyPr wrap="square">
            <a:spAutoFit/>
          </a:bodyPr>
          <a:lstStyle/>
          <a:p>
            <a:pPr algn="l"/>
            <a:r>
              <a:rPr sz="1200" b="0" i="0">
                <a:solidFill>
                  <a:srgbClr val="E8F4F8"/>
                </a:solidFill>
                <a:latin typeface="Calibri"/>
              </a:rPr>
              <a:t>◆  Safety executives need full case context before deciding</a:t>
            </a:r>
          </a:p>
        </p:txBody>
      </p:sp>
      <p:sp>
        <p:nvSpPr>
          <p:cNvPr id="11" name="TextBox 10"/>
          <p:cNvSpPr txBox="1"/>
          <p:nvPr/>
        </p:nvSpPr>
        <p:spPr>
          <a:xfrm>
            <a:off x="594360" y="3840480"/>
            <a:ext cx="3383280" cy="594360"/>
          </a:xfrm>
          <a:prstGeom prst="rect">
            <a:avLst/>
          </a:prstGeom>
          <a:noFill/>
        </p:spPr>
        <p:txBody>
          <a:bodyPr wrap="square">
            <a:spAutoFit/>
          </a:bodyPr>
          <a:lstStyle/>
          <a:p>
            <a:pPr algn="l"/>
            <a:r>
              <a:rPr sz="1200" b="0" i="0">
                <a:solidFill>
                  <a:srgbClr val="E8F4F8"/>
                </a:solidFill>
                <a:latin typeface="Calibri"/>
              </a:rPr>
              <a:t>◆  Maestro Case pauses pipeline awaiting human sign-off</a:t>
            </a:r>
          </a:p>
        </p:txBody>
      </p:sp>
      <p:sp>
        <p:nvSpPr>
          <p:cNvPr id="12" name="Rounded Rectangle 11"/>
          <p:cNvSpPr/>
          <p:nvPr/>
        </p:nvSpPr>
        <p:spPr>
          <a:xfrm>
            <a:off x="640080" y="4297680"/>
            <a:ext cx="2834640" cy="292608"/>
          </a:xfrm>
          <a:prstGeom prst="roundRect">
            <a:avLst>
              <a:gd name="adj" fmla="val 5000"/>
            </a:avLst>
          </a:prstGeom>
          <a:solidFill>
            <a:srgbClr val="027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1" y="4334256"/>
            <a:ext cx="2688336" cy="219456"/>
          </a:xfrm>
          <a:prstGeom prst="rect">
            <a:avLst/>
          </a:prstGeom>
          <a:noFill/>
        </p:spPr>
        <p:txBody>
          <a:bodyPr wrap="square">
            <a:spAutoFit/>
          </a:bodyPr>
          <a:lstStyle/>
          <a:p>
            <a:pPr algn="ctr"/>
            <a:r>
              <a:rPr sz="1000" b="1" i="0">
                <a:solidFill>
                  <a:srgbClr val="FFFFFF"/>
                </a:solidFill>
                <a:latin typeface="Calibri"/>
              </a:rPr>
              <a:t>EscalationApp_Final</a:t>
            </a:r>
          </a:p>
        </p:txBody>
      </p:sp>
      <p:sp>
        <p:nvSpPr>
          <p:cNvPr id="14" name="TextBox 13"/>
          <p:cNvSpPr txBox="1"/>
          <p:nvPr/>
        </p:nvSpPr>
        <p:spPr>
          <a:xfrm>
            <a:off x="640080" y="4645152"/>
            <a:ext cx="3383280" cy="365760"/>
          </a:xfrm>
          <a:prstGeom prst="rect">
            <a:avLst/>
          </a:prstGeom>
          <a:noFill/>
        </p:spPr>
        <p:txBody>
          <a:bodyPr wrap="square">
            <a:spAutoFit/>
          </a:bodyPr>
          <a:lstStyle/>
          <a:p>
            <a:pPr algn="l"/>
            <a:r>
              <a:rPr sz="1000" b="0" i="0">
                <a:solidFill>
                  <a:srgbClr val="B0C4D8"/>
                </a:solidFill>
                <a:latin typeface="Calibri"/>
              </a:rPr>
              <a:t>Deployed in UiPath Action Center</a:t>
            </a:r>
          </a:p>
        </p:txBody>
      </p:sp>
      <p:sp>
        <p:nvSpPr>
          <p:cNvPr id="15" name="Rounded Rectangle 14"/>
          <p:cNvSpPr/>
          <p:nvPr/>
        </p:nvSpPr>
        <p:spPr>
          <a:xfrm>
            <a:off x="640080" y="5010912"/>
            <a:ext cx="2834640" cy="292608"/>
          </a:xfrm>
          <a:prstGeom prst="roundRect">
            <a:avLst>
              <a:gd name="adj" fmla="val 5000"/>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1" y="5047488"/>
            <a:ext cx="2688336" cy="219456"/>
          </a:xfrm>
          <a:prstGeom prst="rect">
            <a:avLst/>
          </a:prstGeom>
          <a:noFill/>
        </p:spPr>
        <p:txBody>
          <a:bodyPr wrap="square">
            <a:spAutoFit/>
          </a:bodyPr>
          <a:lstStyle/>
          <a:p>
            <a:pPr algn="ctr"/>
            <a:r>
              <a:rPr sz="900" b="1" i="0">
                <a:solidFill>
                  <a:srgbClr val="FFFFFF"/>
                </a:solidFill>
                <a:latin typeface="Calibri"/>
              </a:rPr>
              <a:t>Stage 4: Human Action</a:t>
            </a:r>
          </a:p>
        </p:txBody>
      </p:sp>
      <p:sp>
        <p:nvSpPr>
          <p:cNvPr id="17" name="Rounded Rectangle 16"/>
          <p:cNvSpPr/>
          <p:nvPr/>
        </p:nvSpPr>
        <p:spPr>
          <a:xfrm>
            <a:off x="4480560" y="1051560"/>
            <a:ext cx="7315200" cy="5349240"/>
          </a:xfrm>
          <a:prstGeom prst="roundRect">
            <a:avLst>
              <a:gd name="adj" fmla="val 5000"/>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170432"/>
            <a:ext cx="6400800" cy="384048"/>
          </a:xfrm>
          <a:prstGeom prst="rect">
            <a:avLst/>
          </a:prstGeom>
          <a:noFill/>
        </p:spPr>
        <p:txBody>
          <a:bodyPr wrap="square">
            <a:spAutoFit/>
          </a:bodyPr>
          <a:lstStyle/>
          <a:p>
            <a:pPr algn="l"/>
            <a:r>
              <a:rPr sz="1300" b="1" i="0">
                <a:solidFill>
                  <a:srgbClr val="00B4D8"/>
                </a:solidFill>
                <a:latin typeface="Calibri"/>
              </a:rPr>
              <a:t>⚡  ESCALATION DASHBOARD</a:t>
            </a:r>
          </a:p>
        </p:txBody>
      </p:sp>
      <p:sp>
        <p:nvSpPr>
          <p:cNvPr id="19" name="TextBox 18"/>
          <p:cNvSpPr txBox="1"/>
          <p:nvPr/>
        </p:nvSpPr>
        <p:spPr>
          <a:xfrm>
            <a:off x="4709160" y="1572768"/>
            <a:ext cx="6858000" cy="320040"/>
          </a:xfrm>
          <a:prstGeom prst="rect">
            <a:avLst/>
          </a:prstGeom>
          <a:noFill/>
        </p:spPr>
        <p:txBody>
          <a:bodyPr wrap="square">
            <a:spAutoFit/>
          </a:bodyPr>
          <a:lstStyle/>
          <a:p>
            <a:pPr algn="l"/>
            <a:r>
              <a:rPr sz="1100" b="0" i="0">
                <a:solidFill>
                  <a:srgbClr val="FFB703"/>
                </a:solidFill>
                <a:latin typeface="Calibri"/>
              </a:rPr>
              <a:t>Case #PH-20260629-0042  ·  CLUSTER DETECTED</a:t>
            </a:r>
          </a:p>
        </p:txBody>
      </p:sp>
      <p:sp>
        <p:nvSpPr>
          <p:cNvPr id="20" name="Rounded Rectangle 19"/>
          <p:cNvSpPr/>
          <p:nvPr/>
        </p:nvSpPr>
        <p:spPr>
          <a:xfrm>
            <a:off x="4663440" y="1965960"/>
            <a:ext cx="3200400" cy="274320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2057400"/>
            <a:ext cx="2926080" cy="292608"/>
          </a:xfrm>
          <a:prstGeom prst="rect">
            <a:avLst/>
          </a:prstGeom>
          <a:noFill/>
        </p:spPr>
        <p:txBody>
          <a:bodyPr wrap="square">
            <a:spAutoFit/>
          </a:bodyPr>
          <a:lstStyle/>
          <a:p>
            <a:pPr algn="l"/>
            <a:r>
              <a:rPr sz="900" b="1" i="0">
                <a:solidFill>
                  <a:srgbClr val="B0C4D8"/>
                </a:solidFill>
                <a:latin typeface="Calibri"/>
              </a:rPr>
              <a:t>EXTRACTED DATA</a:t>
            </a:r>
          </a:p>
        </p:txBody>
      </p:sp>
      <p:sp>
        <p:nvSpPr>
          <p:cNvPr id="22" name="TextBox 21"/>
          <p:cNvSpPr txBox="1"/>
          <p:nvPr/>
        </p:nvSpPr>
        <p:spPr>
          <a:xfrm>
            <a:off x="4800600" y="2377440"/>
            <a:ext cx="1097280" cy="347472"/>
          </a:xfrm>
          <a:prstGeom prst="rect">
            <a:avLst/>
          </a:prstGeom>
          <a:noFill/>
        </p:spPr>
        <p:txBody>
          <a:bodyPr wrap="square">
            <a:spAutoFit/>
          </a:bodyPr>
          <a:lstStyle/>
          <a:p>
            <a:pPr algn="l"/>
            <a:r>
              <a:rPr sz="1000" b="0" i="0">
                <a:solidFill>
                  <a:srgbClr val="B0C4D8"/>
                </a:solidFill>
                <a:latin typeface="Calibri"/>
              </a:rPr>
              <a:t>Product</a:t>
            </a:r>
          </a:p>
        </p:txBody>
      </p:sp>
      <p:sp>
        <p:nvSpPr>
          <p:cNvPr id="23" name="TextBox 22"/>
          <p:cNvSpPr txBox="1"/>
          <p:nvPr/>
        </p:nvSpPr>
        <p:spPr>
          <a:xfrm>
            <a:off x="5943600" y="2377440"/>
            <a:ext cx="1737360" cy="347472"/>
          </a:xfrm>
          <a:prstGeom prst="rect">
            <a:avLst/>
          </a:prstGeom>
          <a:noFill/>
        </p:spPr>
        <p:txBody>
          <a:bodyPr wrap="square">
            <a:spAutoFit/>
          </a:bodyPr>
          <a:lstStyle/>
          <a:p>
            <a:pPr algn="l"/>
            <a:r>
              <a:rPr sz="1000" b="0" i="0">
                <a:solidFill>
                  <a:srgbClr val="FFFFFF"/>
                </a:solidFill>
                <a:latin typeface="Calibri"/>
              </a:rPr>
              <a:t>NovaCillin 500mg</a:t>
            </a:r>
          </a:p>
        </p:txBody>
      </p:sp>
      <p:sp>
        <p:nvSpPr>
          <p:cNvPr id="24" name="TextBox 23"/>
          <p:cNvSpPr txBox="1"/>
          <p:nvPr/>
        </p:nvSpPr>
        <p:spPr>
          <a:xfrm>
            <a:off x="4800600" y="2788920"/>
            <a:ext cx="1097280" cy="347472"/>
          </a:xfrm>
          <a:prstGeom prst="rect">
            <a:avLst/>
          </a:prstGeom>
          <a:noFill/>
        </p:spPr>
        <p:txBody>
          <a:bodyPr wrap="square">
            <a:spAutoFit/>
          </a:bodyPr>
          <a:lstStyle/>
          <a:p>
            <a:pPr algn="l"/>
            <a:r>
              <a:rPr sz="1000" b="0" i="0">
                <a:solidFill>
                  <a:srgbClr val="B0C4D8"/>
                </a:solidFill>
                <a:latin typeface="Calibri"/>
              </a:rPr>
              <a:t>Batch ID</a:t>
            </a:r>
          </a:p>
        </p:txBody>
      </p:sp>
      <p:sp>
        <p:nvSpPr>
          <p:cNvPr id="25" name="TextBox 24"/>
          <p:cNvSpPr txBox="1"/>
          <p:nvPr/>
        </p:nvSpPr>
        <p:spPr>
          <a:xfrm>
            <a:off x="5943600" y="2788920"/>
            <a:ext cx="1737360" cy="347472"/>
          </a:xfrm>
          <a:prstGeom prst="rect">
            <a:avLst/>
          </a:prstGeom>
          <a:noFill/>
        </p:spPr>
        <p:txBody>
          <a:bodyPr wrap="square">
            <a:spAutoFit/>
          </a:bodyPr>
          <a:lstStyle/>
          <a:p>
            <a:pPr algn="l"/>
            <a:r>
              <a:rPr sz="1000" b="0" i="0">
                <a:solidFill>
                  <a:srgbClr val="FFFFFF"/>
                </a:solidFill>
                <a:latin typeface="Calibri"/>
              </a:rPr>
              <a:t>NC-2026-03-A7</a:t>
            </a:r>
          </a:p>
        </p:txBody>
      </p:sp>
      <p:sp>
        <p:nvSpPr>
          <p:cNvPr id="26" name="TextBox 25"/>
          <p:cNvSpPr txBox="1"/>
          <p:nvPr/>
        </p:nvSpPr>
        <p:spPr>
          <a:xfrm>
            <a:off x="4800600" y="3200400"/>
            <a:ext cx="1097280" cy="347472"/>
          </a:xfrm>
          <a:prstGeom prst="rect">
            <a:avLst/>
          </a:prstGeom>
          <a:noFill/>
        </p:spPr>
        <p:txBody>
          <a:bodyPr wrap="square">
            <a:spAutoFit/>
          </a:bodyPr>
          <a:lstStyle/>
          <a:p>
            <a:pPr algn="l"/>
            <a:r>
              <a:rPr sz="1000" b="0" i="0">
                <a:solidFill>
                  <a:srgbClr val="B0C4D8"/>
                </a:solidFill>
                <a:latin typeface="Calibri"/>
              </a:rPr>
              <a:t>Symptom</a:t>
            </a:r>
          </a:p>
        </p:txBody>
      </p:sp>
      <p:sp>
        <p:nvSpPr>
          <p:cNvPr id="27" name="TextBox 26"/>
          <p:cNvSpPr txBox="1"/>
          <p:nvPr/>
        </p:nvSpPr>
        <p:spPr>
          <a:xfrm>
            <a:off x="5943600" y="3200400"/>
            <a:ext cx="1737360" cy="347472"/>
          </a:xfrm>
          <a:prstGeom prst="rect">
            <a:avLst/>
          </a:prstGeom>
          <a:noFill/>
        </p:spPr>
        <p:txBody>
          <a:bodyPr wrap="square">
            <a:spAutoFit/>
          </a:bodyPr>
          <a:lstStyle/>
          <a:p>
            <a:pPr algn="l"/>
            <a:r>
              <a:rPr sz="1000" b="0" i="0">
                <a:solidFill>
                  <a:srgbClr val="FFFFFF"/>
                </a:solidFill>
                <a:latin typeface="Calibri"/>
              </a:rPr>
              <a:t>Acute Nausea / Rash</a:t>
            </a:r>
          </a:p>
        </p:txBody>
      </p:sp>
      <p:sp>
        <p:nvSpPr>
          <p:cNvPr id="28" name="TextBox 27"/>
          <p:cNvSpPr txBox="1"/>
          <p:nvPr/>
        </p:nvSpPr>
        <p:spPr>
          <a:xfrm>
            <a:off x="4800600" y="3611880"/>
            <a:ext cx="1097280" cy="347472"/>
          </a:xfrm>
          <a:prstGeom prst="rect">
            <a:avLst/>
          </a:prstGeom>
          <a:noFill/>
        </p:spPr>
        <p:txBody>
          <a:bodyPr wrap="square">
            <a:spAutoFit/>
          </a:bodyPr>
          <a:lstStyle/>
          <a:p>
            <a:pPr algn="l"/>
            <a:r>
              <a:rPr sz="1000" b="0" i="0">
                <a:solidFill>
                  <a:srgbClr val="B0C4D8"/>
                </a:solidFill>
                <a:latin typeface="Calibri"/>
              </a:rPr>
              <a:t>Severity</a:t>
            </a:r>
          </a:p>
        </p:txBody>
      </p:sp>
      <p:sp>
        <p:nvSpPr>
          <p:cNvPr id="29" name="TextBox 28"/>
          <p:cNvSpPr txBox="1"/>
          <p:nvPr/>
        </p:nvSpPr>
        <p:spPr>
          <a:xfrm>
            <a:off x="5943600" y="3611880"/>
            <a:ext cx="1737360" cy="347472"/>
          </a:xfrm>
          <a:prstGeom prst="rect">
            <a:avLst/>
          </a:prstGeom>
          <a:noFill/>
        </p:spPr>
        <p:txBody>
          <a:bodyPr wrap="square">
            <a:spAutoFit/>
          </a:bodyPr>
          <a:lstStyle/>
          <a:p>
            <a:pPr algn="l"/>
            <a:r>
              <a:rPr sz="1000" b="1" i="0">
                <a:solidFill>
                  <a:srgbClr val="EF475A"/>
                </a:solidFill>
                <a:latin typeface="Calibri"/>
              </a:rPr>
              <a:t>HIGH</a:t>
            </a:r>
          </a:p>
        </p:txBody>
      </p:sp>
      <p:sp>
        <p:nvSpPr>
          <p:cNvPr id="30" name="TextBox 29"/>
          <p:cNvSpPr txBox="1"/>
          <p:nvPr/>
        </p:nvSpPr>
        <p:spPr>
          <a:xfrm>
            <a:off x="4800600" y="4023360"/>
            <a:ext cx="1097280" cy="347472"/>
          </a:xfrm>
          <a:prstGeom prst="rect">
            <a:avLst/>
          </a:prstGeom>
          <a:noFill/>
        </p:spPr>
        <p:txBody>
          <a:bodyPr wrap="square">
            <a:spAutoFit/>
          </a:bodyPr>
          <a:lstStyle/>
          <a:p>
            <a:pPr algn="l"/>
            <a:r>
              <a:rPr sz="1000" b="0" i="0">
                <a:solidFill>
                  <a:srgbClr val="B0C4D8"/>
                </a:solidFill>
                <a:latin typeface="Calibri"/>
              </a:rPr>
              <a:t>Confidence</a:t>
            </a:r>
          </a:p>
        </p:txBody>
      </p:sp>
      <p:sp>
        <p:nvSpPr>
          <p:cNvPr id="31" name="TextBox 30"/>
          <p:cNvSpPr txBox="1"/>
          <p:nvPr/>
        </p:nvSpPr>
        <p:spPr>
          <a:xfrm>
            <a:off x="5943600" y="4023360"/>
            <a:ext cx="1737360" cy="347472"/>
          </a:xfrm>
          <a:prstGeom prst="rect">
            <a:avLst/>
          </a:prstGeom>
          <a:noFill/>
        </p:spPr>
        <p:txBody>
          <a:bodyPr wrap="square">
            <a:spAutoFit/>
          </a:bodyPr>
          <a:lstStyle/>
          <a:p>
            <a:pPr algn="l"/>
            <a:r>
              <a:rPr sz="1000" b="1" i="0">
                <a:solidFill>
                  <a:srgbClr val="FFFFFF"/>
                </a:solidFill>
                <a:latin typeface="Calibri"/>
              </a:rPr>
              <a:t>94%</a:t>
            </a:r>
          </a:p>
        </p:txBody>
      </p:sp>
      <p:sp>
        <p:nvSpPr>
          <p:cNvPr id="32" name="Rounded Rectangle 31"/>
          <p:cNvSpPr/>
          <p:nvPr/>
        </p:nvSpPr>
        <p:spPr>
          <a:xfrm>
            <a:off x="8046720" y="1965960"/>
            <a:ext cx="3474720" cy="274320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2057400"/>
            <a:ext cx="3200400" cy="292608"/>
          </a:xfrm>
          <a:prstGeom prst="rect">
            <a:avLst/>
          </a:prstGeom>
          <a:noFill/>
        </p:spPr>
        <p:txBody>
          <a:bodyPr wrap="square">
            <a:spAutoFit/>
          </a:bodyPr>
          <a:lstStyle/>
          <a:p>
            <a:pPr algn="l"/>
            <a:r>
              <a:rPr sz="900" b="1" i="0">
                <a:solidFill>
                  <a:srgbClr val="B0C4D8"/>
                </a:solidFill>
                <a:latin typeface="Calibri"/>
              </a:rPr>
              <a:t>SIGNAL STRENGTH</a:t>
            </a:r>
          </a:p>
        </p:txBody>
      </p:sp>
      <p:sp>
        <p:nvSpPr>
          <p:cNvPr id="34" name="TextBox 33"/>
          <p:cNvSpPr txBox="1"/>
          <p:nvPr/>
        </p:nvSpPr>
        <p:spPr>
          <a:xfrm>
            <a:off x="8229600" y="2423160"/>
            <a:ext cx="3200400" cy="594360"/>
          </a:xfrm>
          <a:prstGeom prst="rect">
            <a:avLst/>
          </a:prstGeom>
          <a:noFill/>
        </p:spPr>
        <p:txBody>
          <a:bodyPr wrap="square">
            <a:spAutoFit/>
          </a:bodyPr>
          <a:lstStyle/>
          <a:p>
            <a:pPr algn="ctr"/>
            <a:r>
              <a:rPr sz="3600" b="1" i="0">
                <a:solidFill>
                  <a:srgbClr val="EF475A"/>
                </a:solidFill>
                <a:latin typeface="Calibri"/>
              </a:rPr>
              <a:t>HIGH</a:t>
            </a:r>
          </a:p>
        </p:txBody>
      </p:sp>
      <p:sp>
        <p:nvSpPr>
          <p:cNvPr id="35" name="TextBox 34"/>
          <p:cNvSpPr txBox="1"/>
          <p:nvPr/>
        </p:nvSpPr>
        <p:spPr>
          <a:xfrm>
            <a:off x="8229600" y="3063240"/>
            <a:ext cx="3200400" cy="548640"/>
          </a:xfrm>
          <a:prstGeom prst="rect">
            <a:avLst/>
          </a:prstGeom>
          <a:noFill/>
        </p:spPr>
        <p:txBody>
          <a:bodyPr wrap="square">
            <a:spAutoFit/>
          </a:bodyPr>
          <a:lstStyle/>
          <a:p>
            <a:pPr algn="ctr"/>
            <a:r>
              <a:rPr sz="1000" b="0" i="0">
                <a:solidFill>
                  <a:srgbClr val="E8F4F8"/>
                </a:solidFill>
                <a:latin typeface="Calibri"/>
              </a:rPr>
              <a:t>7 complaints on same batch
across 3 geographies in 14 days</a:t>
            </a:r>
          </a:p>
        </p:txBody>
      </p:sp>
      <p:sp>
        <p:nvSpPr>
          <p:cNvPr id="36" name="TextBox 35"/>
          <p:cNvSpPr txBox="1"/>
          <p:nvPr/>
        </p:nvSpPr>
        <p:spPr>
          <a:xfrm>
            <a:off x="8229600" y="3703320"/>
            <a:ext cx="3200400" cy="822960"/>
          </a:xfrm>
          <a:prstGeom prst="rect">
            <a:avLst/>
          </a:prstGeom>
          <a:noFill/>
        </p:spPr>
        <p:txBody>
          <a:bodyPr wrap="square">
            <a:spAutoFit/>
          </a:bodyPr>
          <a:lstStyle/>
          <a:p>
            <a:pPr algn="l"/>
            <a:r>
              <a:rPr sz="1000" b="0" i="0">
                <a:solidFill>
                  <a:srgbClr val="FFB703"/>
                </a:solidFill>
                <a:latin typeface="Calibri"/>
              </a:rPr>
              <a:t>Cluster Reasoning: Systemic contamination
suspected in NC-2026-03-A7 production run.</a:t>
            </a:r>
          </a:p>
        </p:txBody>
      </p:sp>
      <p:sp>
        <p:nvSpPr>
          <p:cNvPr id="37" name="Rounded Rectangle 36"/>
          <p:cNvSpPr/>
          <p:nvPr/>
        </p:nvSpPr>
        <p:spPr>
          <a:xfrm>
            <a:off x="4663440" y="4892040"/>
            <a:ext cx="2176272" cy="502920"/>
          </a:xfrm>
          <a:prstGeom prst="roundRect">
            <a:avLst>
              <a:gd name="adj" fmla="val 5000"/>
            </a:avLst>
          </a:prstGeom>
          <a:solidFill>
            <a:srgbClr val="EF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09159" y="4937760"/>
            <a:ext cx="2103120" cy="411480"/>
          </a:xfrm>
          <a:prstGeom prst="rect">
            <a:avLst/>
          </a:prstGeom>
          <a:noFill/>
        </p:spPr>
        <p:txBody>
          <a:bodyPr wrap="square">
            <a:spAutoFit/>
          </a:bodyPr>
          <a:lstStyle/>
          <a:p>
            <a:pPr algn="ctr"/>
            <a:r>
              <a:rPr sz="1000" b="1" i="0">
                <a:solidFill>
                  <a:srgbClr val="FFFFFF"/>
                </a:solidFill>
                <a:latin typeface="Calibri"/>
              </a:rPr>
              <a:t>🚨  INITIATE RECALL</a:t>
            </a:r>
          </a:p>
        </p:txBody>
      </p:sp>
      <p:sp>
        <p:nvSpPr>
          <p:cNvPr id="39" name="Rounded Rectangle 38"/>
          <p:cNvSpPr/>
          <p:nvPr/>
        </p:nvSpPr>
        <p:spPr>
          <a:xfrm>
            <a:off x="7022592" y="4892040"/>
            <a:ext cx="2176272" cy="502920"/>
          </a:xfrm>
          <a:prstGeom prst="roundRect">
            <a:avLst>
              <a:gd name="adj" fmla="val 5000"/>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68312" y="4937760"/>
            <a:ext cx="2103120" cy="411480"/>
          </a:xfrm>
          <a:prstGeom prst="rect">
            <a:avLst/>
          </a:prstGeom>
          <a:noFill/>
        </p:spPr>
        <p:txBody>
          <a:bodyPr wrap="square">
            <a:spAutoFit/>
          </a:bodyPr>
          <a:lstStyle/>
          <a:p>
            <a:pPr algn="ctr"/>
            <a:r>
              <a:rPr sz="1000" b="1" i="0">
                <a:solidFill>
                  <a:srgbClr val="FFFFFF"/>
                </a:solidFill>
                <a:latin typeface="Calibri"/>
              </a:rPr>
              <a:t>🔬  ESCALATE TO LAB</a:t>
            </a:r>
          </a:p>
        </p:txBody>
      </p:sp>
      <p:sp>
        <p:nvSpPr>
          <p:cNvPr id="41" name="Rounded Rectangle 40"/>
          <p:cNvSpPr/>
          <p:nvPr/>
        </p:nvSpPr>
        <p:spPr>
          <a:xfrm>
            <a:off x="9381744" y="4892040"/>
            <a:ext cx="2176272" cy="502920"/>
          </a:xfrm>
          <a:prstGeom prst="roundRect">
            <a:avLst>
              <a:gd name="adj" fmla="val 5000"/>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27464" y="4937760"/>
            <a:ext cx="2103120" cy="411480"/>
          </a:xfrm>
          <a:prstGeom prst="rect">
            <a:avLst/>
          </a:prstGeom>
          <a:noFill/>
        </p:spPr>
        <p:txBody>
          <a:bodyPr wrap="square">
            <a:spAutoFit/>
          </a:bodyPr>
          <a:lstStyle/>
          <a:p>
            <a:pPr algn="ctr"/>
            <a:r>
              <a:rPr sz="1000" b="1" i="0">
                <a:solidFill>
                  <a:srgbClr val="FFFFFF"/>
                </a:solidFill>
                <a:latin typeface="Calibri"/>
              </a:rPr>
              <a:t>✓  DISMISS CASE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200" b="1" i="0">
                <a:solidFill>
                  <a:srgbClr val="FFFFFF"/>
                </a:solidFill>
                <a:latin typeface="Cambria"/>
              </a:rPr>
              <a:t>IMPACT, RESILIENCY &amp; FUTURE SCOPE</a:t>
            </a:r>
          </a:p>
        </p:txBody>
      </p:sp>
      <p:sp>
        <p:nvSpPr>
          <p:cNvPr id="4" name="Rectangle 3"/>
          <p:cNvSpPr/>
          <p:nvPr/>
        </p:nvSpPr>
        <p:spPr>
          <a:xfrm>
            <a:off x="457200" y="804672"/>
            <a:ext cx="41148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51560"/>
            <a:ext cx="11430000" cy="1371600"/>
          </a:xfrm>
          <a:prstGeom prst="roundRect">
            <a:avLst>
              <a:gd name="adj" fmla="val 5000"/>
            </a:avLst>
          </a:prstGeom>
          <a:solidFill>
            <a:srgbClr val="02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4114800" cy="594360"/>
          </a:xfrm>
          <a:prstGeom prst="rect">
            <a:avLst/>
          </a:prstGeom>
          <a:noFill/>
        </p:spPr>
        <p:txBody>
          <a:bodyPr wrap="square">
            <a:spAutoFit/>
          </a:bodyPr>
          <a:lstStyle/>
          <a:p>
            <a:pPr algn="l"/>
            <a:r>
              <a:rPr sz="2000" b="1" i="0">
                <a:solidFill>
                  <a:srgbClr val="B0C4D8"/>
                </a:solidFill>
                <a:latin typeface="Calibri"/>
              </a:rPr>
              <a:t>Weeks of Manual Auditing</a:t>
            </a:r>
          </a:p>
        </p:txBody>
      </p:sp>
      <p:sp>
        <p:nvSpPr>
          <p:cNvPr id="7" name="TextBox 6"/>
          <p:cNvSpPr txBox="1"/>
          <p:nvPr/>
        </p:nvSpPr>
        <p:spPr>
          <a:xfrm>
            <a:off x="4846320" y="1261872"/>
            <a:ext cx="1097280" cy="594360"/>
          </a:xfrm>
          <a:prstGeom prst="rect">
            <a:avLst/>
          </a:prstGeom>
          <a:noFill/>
        </p:spPr>
        <p:txBody>
          <a:bodyPr wrap="square">
            <a:spAutoFit/>
          </a:bodyPr>
          <a:lstStyle/>
          <a:p>
            <a:pPr algn="ctr"/>
            <a:r>
              <a:rPr sz="3600" b="1" i="0">
                <a:solidFill>
                  <a:srgbClr val="00B4D8"/>
                </a:solidFill>
                <a:latin typeface="Calibri"/>
              </a:rPr>
              <a:t>→</a:t>
            </a:r>
          </a:p>
        </p:txBody>
      </p:sp>
      <p:sp>
        <p:nvSpPr>
          <p:cNvPr id="8" name="TextBox 7"/>
          <p:cNvSpPr txBox="1"/>
          <p:nvPr/>
        </p:nvSpPr>
        <p:spPr>
          <a:xfrm>
            <a:off x="5852160" y="1234440"/>
            <a:ext cx="5669280" cy="594360"/>
          </a:xfrm>
          <a:prstGeom prst="rect">
            <a:avLst/>
          </a:prstGeom>
          <a:noFill/>
        </p:spPr>
        <p:txBody>
          <a:bodyPr wrap="square">
            <a:spAutoFit/>
          </a:bodyPr>
          <a:lstStyle/>
          <a:p>
            <a:pPr algn="l"/>
            <a:r>
              <a:rPr sz="2000" b="1" i="0">
                <a:solidFill>
                  <a:srgbClr val="06D6A0"/>
                </a:solidFill>
                <a:latin typeface="Calibri"/>
              </a:rPr>
              <a:t>Seconds of Autonomous Orchestration</a:t>
            </a:r>
          </a:p>
        </p:txBody>
      </p:sp>
      <p:sp>
        <p:nvSpPr>
          <p:cNvPr id="9" name="Rounded Rectangle 8"/>
          <p:cNvSpPr/>
          <p:nvPr/>
        </p:nvSpPr>
        <p:spPr>
          <a:xfrm>
            <a:off x="365760" y="2651760"/>
            <a:ext cx="3657600" cy="292608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43200"/>
            <a:ext cx="640080" cy="640080"/>
          </a:xfrm>
          <a:prstGeom prst="rect">
            <a:avLst/>
          </a:prstGeom>
          <a:noFill/>
        </p:spPr>
        <p:txBody>
          <a:bodyPr wrap="square">
            <a:spAutoFit/>
          </a:bodyPr>
          <a:lstStyle/>
          <a:p>
            <a:pPr algn="l"/>
            <a:r>
              <a:rPr sz="2800" b="0" i="0">
                <a:solidFill>
                  <a:srgbClr val="FFFFFF"/>
                </a:solidFill>
                <a:latin typeface="Calibri"/>
              </a:rPr>
              <a:t>⚡</a:t>
            </a:r>
          </a:p>
        </p:txBody>
      </p:sp>
      <p:sp>
        <p:nvSpPr>
          <p:cNvPr id="11" name="TextBox 10"/>
          <p:cNvSpPr txBox="1"/>
          <p:nvPr/>
        </p:nvSpPr>
        <p:spPr>
          <a:xfrm>
            <a:off x="548640" y="3401568"/>
            <a:ext cx="3291840" cy="475488"/>
          </a:xfrm>
          <a:prstGeom prst="rect">
            <a:avLst/>
          </a:prstGeom>
          <a:noFill/>
        </p:spPr>
        <p:txBody>
          <a:bodyPr wrap="square">
            <a:spAutoFit/>
          </a:bodyPr>
          <a:lstStyle/>
          <a:p>
            <a:pPr algn="l"/>
            <a:r>
              <a:rPr sz="1500" b="1" i="0">
                <a:solidFill>
                  <a:srgbClr val="00B4D8"/>
                </a:solidFill>
                <a:latin typeface="Calibri"/>
              </a:rPr>
              <a:t>Zero Latency Detection</a:t>
            </a:r>
          </a:p>
        </p:txBody>
      </p:sp>
      <p:sp>
        <p:nvSpPr>
          <p:cNvPr id="12" name="Rectangle 11"/>
          <p:cNvSpPr/>
          <p:nvPr/>
        </p:nvSpPr>
        <p:spPr>
          <a:xfrm>
            <a:off x="548640" y="3913632"/>
            <a:ext cx="3108960" cy="127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041648"/>
            <a:ext cx="3291840" cy="365760"/>
          </a:xfrm>
          <a:prstGeom prst="rect">
            <a:avLst/>
          </a:prstGeom>
          <a:noFill/>
        </p:spPr>
        <p:txBody>
          <a:bodyPr wrap="square">
            <a:spAutoFit/>
          </a:bodyPr>
          <a:lstStyle/>
          <a:p>
            <a:pPr algn="l"/>
            <a:r>
              <a:rPr sz="1100" b="0" i="0">
                <a:solidFill>
                  <a:srgbClr val="E8F4F8"/>
                </a:solidFill>
                <a:latin typeface="Calibri"/>
              </a:rPr>
              <a:t>✓  API-triggered ingestion</a:t>
            </a:r>
          </a:p>
        </p:txBody>
      </p:sp>
      <p:sp>
        <p:nvSpPr>
          <p:cNvPr id="14" name="TextBox 13"/>
          <p:cNvSpPr txBox="1"/>
          <p:nvPr/>
        </p:nvSpPr>
        <p:spPr>
          <a:xfrm>
            <a:off x="548640" y="4425696"/>
            <a:ext cx="3291840" cy="365760"/>
          </a:xfrm>
          <a:prstGeom prst="rect">
            <a:avLst/>
          </a:prstGeom>
          <a:noFill/>
        </p:spPr>
        <p:txBody>
          <a:bodyPr wrap="square">
            <a:spAutoFit/>
          </a:bodyPr>
          <a:lstStyle/>
          <a:p>
            <a:pPr algn="l"/>
            <a:r>
              <a:rPr sz="1100" b="0" i="0">
                <a:solidFill>
                  <a:srgbClr val="E8F4F8"/>
                </a:solidFill>
                <a:latin typeface="Calibri"/>
              </a:rPr>
              <a:t>✓  LLM extraction in &lt; 3s</a:t>
            </a:r>
          </a:p>
        </p:txBody>
      </p:sp>
      <p:sp>
        <p:nvSpPr>
          <p:cNvPr id="15" name="TextBox 14"/>
          <p:cNvSpPr txBox="1"/>
          <p:nvPr/>
        </p:nvSpPr>
        <p:spPr>
          <a:xfrm>
            <a:off x="548640" y="4809744"/>
            <a:ext cx="3291840" cy="365760"/>
          </a:xfrm>
          <a:prstGeom prst="rect">
            <a:avLst/>
          </a:prstGeom>
          <a:noFill/>
        </p:spPr>
        <p:txBody>
          <a:bodyPr wrap="square">
            <a:spAutoFit/>
          </a:bodyPr>
          <a:lstStyle/>
          <a:p>
            <a:pPr algn="l"/>
            <a:r>
              <a:rPr sz="1100" b="0" i="0">
                <a:solidFill>
                  <a:srgbClr val="E8F4F8"/>
                </a:solidFill>
                <a:latin typeface="Calibri"/>
              </a:rPr>
              <a:t>✓  Real-time cluster scoring</a:t>
            </a:r>
          </a:p>
        </p:txBody>
      </p:sp>
      <p:sp>
        <p:nvSpPr>
          <p:cNvPr id="16" name="TextBox 15"/>
          <p:cNvSpPr txBox="1"/>
          <p:nvPr/>
        </p:nvSpPr>
        <p:spPr>
          <a:xfrm>
            <a:off x="548640" y="5193792"/>
            <a:ext cx="3291840" cy="365760"/>
          </a:xfrm>
          <a:prstGeom prst="rect">
            <a:avLst/>
          </a:prstGeom>
          <a:noFill/>
        </p:spPr>
        <p:txBody>
          <a:bodyPr wrap="square">
            <a:spAutoFit/>
          </a:bodyPr>
          <a:lstStyle/>
          <a:p>
            <a:pPr algn="l"/>
            <a:r>
              <a:rPr sz="1100" b="0" i="0">
                <a:solidFill>
                  <a:srgbClr val="E8F4F8"/>
                </a:solidFill>
                <a:latin typeface="Calibri"/>
              </a:rPr>
              <a:t>✓  Instant HITL escalation</a:t>
            </a:r>
          </a:p>
        </p:txBody>
      </p:sp>
      <p:sp>
        <p:nvSpPr>
          <p:cNvPr id="17" name="Rounded Rectangle 16"/>
          <p:cNvSpPr/>
          <p:nvPr/>
        </p:nvSpPr>
        <p:spPr>
          <a:xfrm>
            <a:off x="4251960" y="2651760"/>
            <a:ext cx="3657600" cy="292608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2743200"/>
            <a:ext cx="640080" cy="640080"/>
          </a:xfrm>
          <a:prstGeom prst="rect">
            <a:avLst/>
          </a:prstGeom>
          <a:noFill/>
        </p:spPr>
        <p:txBody>
          <a:bodyPr wrap="square">
            <a:spAutoFit/>
          </a:bodyPr>
          <a:lstStyle/>
          <a:p>
            <a:pPr algn="l"/>
            <a:r>
              <a:rPr sz="2800" b="0" i="0">
                <a:solidFill>
                  <a:srgbClr val="FFFFFF"/>
                </a:solidFill>
                <a:latin typeface="Calibri"/>
              </a:rPr>
              <a:t>🛡️</a:t>
            </a:r>
          </a:p>
        </p:txBody>
      </p:sp>
      <p:sp>
        <p:nvSpPr>
          <p:cNvPr id="19" name="TextBox 18"/>
          <p:cNvSpPr txBox="1"/>
          <p:nvPr/>
        </p:nvSpPr>
        <p:spPr>
          <a:xfrm>
            <a:off x="4434840" y="3401568"/>
            <a:ext cx="3291840" cy="475488"/>
          </a:xfrm>
          <a:prstGeom prst="rect">
            <a:avLst/>
          </a:prstGeom>
          <a:noFill/>
        </p:spPr>
        <p:txBody>
          <a:bodyPr wrap="square">
            <a:spAutoFit/>
          </a:bodyPr>
          <a:lstStyle/>
          <a:p>
            <a:pPr algn="l"/>
            <a:r>
              <a:rPr sz="1500" b="1" i="0">
                <a:solidFill>
                  <a:srgbClr val="FFB703"/>
                </a:solidFill>
                <a:latin typeface="Calibri"/>
              </a:rPr>
              <a:t>Failsafe Resiliency</a:t>
            </a:r>
          </a:p>
        </p:txBody>
      </p:sp>
      <p:sp>
        <p:nvSpPr>
          <p:cNvPr id="20" name="Rectangle 19"/>
          <p:cNvSpPr/>
          <p:nvPr/>
        </p:nvSpPr>
        <p:spPr>
          <a:xfrm>
            <a:off x="4434840" y="3913632"/>
            <a:ext cx="3108960" cy="12700"/>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4041648"/>
            <a:ext cx="3291840" cy="365760"/>
          </a:xfrm>
          <a:prstGeom prst="rect">
            <a:avLst/>
          </a:prstGeom>
          <a:noFill/>
        </p:spPr>
        <p:txBody>
          <a:bodyPr wrap="square">
            <a:spAutoFit/>
          </a:bodyPr>
          <a:lstStyle/>
          <a:p>
            <a:pPr algn="l"/>
            <a:r>
              <a:rPr sz="1100" b="0" i="0">
                <a:solidFill>
                  <a:srgbClr val="E8F4F8"/>
                </a:solidFill>
                <a:latin typeface="Calibri"/>
              </a:rPr>
              <a:t>✓  Low-confidence → human review</a:t>
            </a:r>
          </a:p>
        </p:txBody>
      </p:sp>
      <p:sp>
        <p:nvSpPr>
          <p:cNvPr id="22" name="TextBox 21"/>
          <p:cNvSpPr txBox="1"/>
          <p:nvPr/>
        </p:nvSpPr>
        <p:spPr>
          <a:xfrm>
            <a:off x="4434840" y="4425696"/>
            <a:ext cx="3291840" cy="365760"/>
          </a:xfrm>
          <a:prstGeom prst="rect">
            <a:avLst/>
          </a:prstGeom>
          <a:noFill/>
        </p:spPr>
        <p:txBody>
          <a:bodyPr wrap="square">
            <a:spAutoFit/>
          </a:bodyPr>
          <a:lstStyle/>
          <a:p>
            <a:pPr algn="l"/>
            <a:r>
              <a:rPr sz="1100" b="0" i="0">
                <a:solidFill>
                  <a:srgbClr val="E8F4F8"/>
                </a:solidFill>
                <a:latin typeface="Calibri"/>
              </a:rPr>
              <a:t>✓  ERP outage → cached fallback</a:t>
            </a:r>
          </a:p>
        </p:txBody>
      </p:sp>
      <p:sp>
        <p:nvSpPr>
          <p:cNvPr id="23" name="TextBox 22"/>
          <p:cNvSpPr txBox="1"/>
          <p:nvPr/>
        </p:nvSpPr>
        <p:spPr>
          <a:xfrm>
            <a:off x="4434840" y="4809744"/>
            <a:ext cx="3291840" cy="365760"/>
          </a:xfrm>
          <a:prstGeom prst="rect">
            <a:avLst/>
          </a:prstGeom>
          <a:noFill/>
        </p:spPr>
        <p:txBody>
          <a:bodyPr wrap="square">
            <a:spAutoFit/>
          </a:bodyPr>
          <a:lstStyle/>
          <a:p>
            <a:pPr algn="l"/>
            <a:r>
              <a:rPr sz="1100" b="0" i="0">
                <a:solidFill>
                  <a:srgbClr val="E8F4F8"/>
                </a:solidFill>
                <a:latin typeface="Calibri"/>
              </a:rPr>
              <a:t>✓  Exponential backoff retries</a:t>
            </a:r>
          </a:p>
        </p:txBody>
      </p:sp>
      <p:sp>
        <p:nvSpPr>
          <p:cNvPr id="24" name="TextBox 23"/>
          <p:cNvSpPr txBox="1"/>
          <p:nvPr/>
        </p:nvSpPr>
        <p:spPr>
          <a:xfrm>
            <a:off x="4434840" y="5193792"/>
            <a:ext cx="3291840" cy="365760"/>
          </a:xfrm>
          <a:prstGeom prst="rect">
            <a:avLst/>
          </a:prstGeom>
          <a:noFill/>
        </p:spPr>
        <p:txBody>
          <a:bodyPr wrap="square">
            <a:spAutoFit/>
          </a:bodyPr>
          <a:lstStyle/>
          <a:p>
            <a:pPr algn="l"/>
            <a:r>
              <a:rPr sz="1100" b="0" i="0">
                <a:solidFill>
                  <a:srgbClr val="E8F4F8"/>
                </a:solidFill>
                <a:latin typeface="Calibri"/>
              </a:rPr>
              <a:t>✓  Full audit trail logged</a:t>
            </a:r>
          </a:p>
        </p:txBody>
      </p:sp>
      <p:sp>
        <p:nvSpPr>
          <p:cNvPr id="25" name="Rounded Rectangle 24"/>
          <p:cNvSpPr/>
          <p:nvPr/>
        </p:nvSpPr>
        <p:spPr>
          <a:xfrm>
            <a:off x="8138160" y="2651760"/>
            <a:ext cx="3657600" cy="2926080"/>
          </a:xfrm>
          <a:prstGeom prst="roundRect">
            <a:avLst>
              <a:gd name="adj" fmla="val 5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2743200"/>
            <a:ext cx="640080" cy="640080"/>
          </a:xfrm>
          <a:prstGeom prst="rect">
            <a:avLst/>
          </a:prstGeom>
          <a:noFill/>
        </p:spPr>
        <p:txBody>
          <a:bodyPr wrap="square">
            <a:spAutoFit/>
          </a:bodyPr>
          <a:lstStyle/>
          <a:p>
            <a:pPr algn="l"/>
            <a:r>
              <a:rPr sz="2800" b="0" i="0">
                <a:solidFill>
                  <a:srgbClr val="FFFFFF"/>
                </a:solidFill>
                <a:latin typeface="Calibri"/>
              </a:rPr>
              <a:t>🤖</a:t>
            </a:r>
          </a:p>
        </p:txBody>
      </p:sp>
      <p:sp>
        <p:nvSpPr>
          <p:cNvPr id="27" name="TextBox 26"/>
          <p:cNvSpPr txBox="1"/>
          <p:nvPr/>
        </p:nvSpPr>
        <p:spPr>
          <a:xfrm>
            <a:off x="8321040" y="3401568"/>
            <a:ext cx="3291840" cy="475488"/>
          </a:xfrm>
          <a:prstGeom prst="rect">
            <a:avLst/>
          </a:prstGeom>
          <a:noFill/>
        </p:spPr>
        <p:txBody>
          <a:bodyPr wrap="square">
            <a:spAutoFit/>
          </a:bodyPr>
          <a:lstStyle/>
          <a:p>
            <a:pPr algn="l"/>
            <a:r>
              <a:rPr sz="1500" b="1" i="0">
                <a:solidFill>
                  <a:srgbClr val="06D6A0"/>
                </a:solidFill>
                <a:latin typeface="Calibri"/>
              </a:rPr>
              <a:t>Developer Acceleration</a:t>
            </a:r>
          </a:p>
        </p:txBody>
      </p:sp>
      <p:sp>
        <p:nvSpPr>
          <p:cNvPr id="28" name="Rectangle 27"/>
          <p:cNvSpPr/>
          <p:nvPr/>
        </p:nvSpPr>
        <p:spPr>
          <a:xfrm>
            <a:off x="8321040" y="3913632"/>
            <a:ext cx="3108960" cy="1270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4041648"/>
            <a:ext cx="3291840" cy="365760"/>
          </a:xfrm>
          <a:prstGeom prst="rect">
            <a:avLst/>
          </a:prstGeom>
          <a:noFill/>
        </p:spPr>
        <p:txBody>
          <a:bodyPr wrap="square">
            <a:spAutoFit/>
          </a:bodyPr>
          <a:lstStyle/>
          <a:p>
            <a:pPr algn="l"/>
            <a:r>
              <a:rPr sz="1100" b="0" i="0">
                <a:solidFill>
                  <a:srgbClr val="E8F4F8"/>
                </a:solidFill>
                <a:latin typeface="Calibri"/>
              </a:rPr>
              <a:t>✓  Co-built with Gemini CLI</a:t>
            </a:r>
          </a:p>
        </p:txBody>
      </p:sp>
      <p:sp>
        <p:nvSpPr>
          <p:cNvPr id="30" name="TextBox 29"/>
          <p:cNvSpPr txBox="1"/>
          <p:nvPr/>
        </p:nvSpPr>
        <p:spPr>
          <a:xfrm>
            <a:off x="8321040" y="4425696"/>
            <a:ext cx="3291840" cy="365760"/>
          </a:xfrm>
          <a:prstGeom prst="rect">
            <a:avLst/>
          </a:prstGeom>
          <a:noFill/>
        </p:spPr>
        <p:txBody>
          <a:bodyPr wrap="square">
            <a:spAutoFit/>
          </a:bodyPr>
          <a:lstStyle/>
          <a:p>
            <a:pPr algn="l"/>
            <a:r>
              <a:rPr sz="1100" b="0" i="0">
                <a:solidFill>
                  <a:srgbClr val="E8F4F8"/>
                </a:solidFill>
                <a:latin typeface="Calibri"/>
              </a:rPr>
              <a:t>✓  Claude Code for schema design</a:t>
            </a:r>
          </a:p>
        </p:txBody>
      </p:sp>
      <p:sp>
        <p:nvSpPr>
          <p:cNvPr id="31" name="TextBox 30"/>
          <p:cNvSpPr txBox="1"/>
          <p:nvPr/>
        </p:nvSpPr>
        <p:spPr>
          <a:xfrm>
            <a:off x="8321040" y="4809744"/>
            <a:ext cx="3291840" cy="365760"/>
          </a:xfrm>
          <a:prstGeom prst="rect">
            <a:avLst/>
          </a:prstGeom>
          <a:noFill/>
        </p:spPr>
        <p:txBody>
          <a:bodyPr wrap="square">
            <a:spAutoFit/>
          </a:bodyPr>
          <a:lstStyle/>
          <a:p>
            <a:pPr algn="l"/>
            <a:r>
              <a:rPr sz="1100" b="0" i="0">
                <a:solidFill>
                  <a:srgbClr val="E8F4F8"/>
                </a:solidFill>
                <a:latin typeface="Calibri"/>
              </a:rPr>
              <a:t>✓  Validation test suite auto-gen</a:t>
            </a:r>
          </a:p>
        </p:txBody>
      </p:sp>
      <p:sp>
        <p:nvSpPr>
          <p:cNvPr id="32" name="TextBox 31"/>
          <p:cNvSpPr txBox="1"/>
          <p:nvPr/>
        </p:nvSpPr>
        <p:spPr>
          <a:xfrm>
            <a:off x="8321040" y="5193792"/>
            <a:ext cx="3291840" cy="365760"/>
          </a:xfrm>
          <a:prstGeom prst="rect">
            <a:avLst/>
          </a:prstGeom>
          <a:noFill/>
        </p:spPr>
        <p:txBody>
          <a:bodyPr wrap="square">
            <a:spAutoFit/>
          </a:bodyPr>
          <a:lstStyle/>
          <a:p>
            <a:pPr algn="l"/>
            <a:r>
              <a:rPr sz="1100" b="0" i="0">
                <a:solidFill>
                  <a:srgbClr val="E8F4F8"/>
                </a:solidFill>
                <a:latin typeface="Calibri"/>
              </a:rPr>
              <a:t>✓  MIT Open Source License</a:t>
            </a:r>
          </a:p>
        </p:txBody>
      </p:sp>
      <p:sp>
        <p:nvSpPr>
          <p:cNvPr id="33" name="Rounded Rectangle 32"/>
          <p:cNvSpPr/>
          <p:nvPr/>
        </p:nvSpPr>
        <p:spPr>
          <a:xfrm>
            <a:off x="365760" y="5760720"/>
            <a:ext cx="11430000" cy="914400"/>
          </a:xfrm>
          <a:prstGeom prst="roundRect">
            <a:avLst>
              <a:gd name="adj" fmla="val 5000"/>
            </a:avLst>
          </a:prstGeom>
          <a:solidFill>
            <a:srgbClr val="07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5888736"/>
            <a:ext cx="11247120" cy="365760"/>
          </a:xfrm>
          <a:prstGeom prst="rect">
            <a:avLst/>
          </a:prstGeom>
          <a:noFill/>
        </p:spPr>
        <p:txBody>
          <a:bodyPr wrap="square">
            <a:spAutoFit/>
          </a:bodyPr>
          <a:lstStyle/>
          <a:p>
            <a:pPr algn="ctr"/>
            <a:r>
              <a:rPr sz="1100" b="1" i="0">
                <a:solidFill>
                  <a:srgbClr val="00B4D8"/>
                </a:solidFill>
                <a:latin typeface="Calibri"/>
              </a:rPr>
              <a:t>UiPath Maestro Case  ·  Agent Builder  ·  Gmail Connector  ·  UiPath Apps  ·  Gemini 2.5 Flash  ·  Claude Code</a:t>
            </a:r>
          </a:p>
        </p:txBody>
      </p:sp>
      <p:sp>
        <p:nvSpPr>
          <p:cNvPr id="35" name="TextBox 34"/>
          <p:cNvSpPr txBox="1"/>
          <p:nvPr/>
        </p:nvSpPr>
        <p:spPr>
          <a:xfrm>
            <a:off x="457200" y="6236208"/>
            <a:ext cx="11247120" cy="347472"/>
          </a:xfrm>
          <a:prstGeom prst="rect">
            <a:avLst/>
          </a:prstGeom>
          <a:noFill/>
        </p:spPr>
        <p:txBody>
          <a:bodyPr wrap="square">
            <a:spAutoFit/>
          </a:bodyPr>
          <a:lstStyle/>
          <a:p>
            <a:pPr algn="ctr"/>
            <a:r>
              <a:rPr sz="1000" b="0" i="0">
                <a:solidFill>
                  <a:srgbClr val="B0C4D8"/>
                </a:solidFill>
                <a:latin typeface="Calibri"/>
              </a:rPr>
              <a:t>github.com/pugalesan-pugal/PharmaTrac-AI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